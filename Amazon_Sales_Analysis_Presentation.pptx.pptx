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ptos Bold" charset="1" panose="020B0004020202020204"/>
      <p:regular r:id="rId22"/>
    </p:embeddedFont>
    <p:embeddedFont>
      <p:font typeface="Calibri (MS)" charset="1" panose="020F0502020204030204"/>
      <p:regular r:id="rId23"/>
    </p:embeddedFont>
    <p:embeddedFont>
      <p:font typeface="Aptos" charset="1" panose="020B0004020202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3.jpeg" Type="http://schemas.openxmlformats.org/officeDocument/2006/relationships/image"/><Relationship Id="rId4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017721" cy="10287000"/>
            <a:chOff x="0" y="0"/>
            <a:chExt cx="26690295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690321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6690321">
                  <a:moveTo>
                    <a:pt x="0" y="0"/>
                  </a:moveTo>
                  <a:lnTo>
                    <a:pt x="26690321" y="0"/>
                  </a:lnTo>
                  <a:lnTo>
                    <a:pt x="26690321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41E3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64592" cy="10287000"/>
            <a:chOff x="0" y="0"/>
            <a:chExt cx="219456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9A91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741401" y="4496724"/>
            <a:ext cx="16184880" cy="1293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Amazon Sales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13480" y="9686925"/>
            <a:ext cx="914400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30404" y="8537981"/>
            <a:ext cx="8355987" cy="1289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C8D2E1"/>
                </a:solidFill>
                <a:latin typeface="Aptos"/>
                <a:ea typeface="Aptos"/>
                <a:cs typeface="Aptos"/>
                <a:sym typeface="Aptos"/>
              </a:rPr>
              <a:t>Name : Khaled Elsafy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C8D2E1"/>
                </a:solidFill>
                <a:latin typeface="Aptos"/>
                <a:ea typeface="Aptos"/>
                <a:cs typeface="Aptos"/>
                <a:sym typeface="Aptos"/>
              </a:rPr>
              <a:t>Dataset : Amazon Sales Dataset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2980" y="525780"/>
            <a:ext cx="1627632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Project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10412" y="1745942"/>
            <a:ext cx="15531465" cy="590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5F6C7D"/>
                </a:solidFill>
                <a:latin typeface="Aptos Bold"/>
                <a:ea typeface="Aptos Bold"/>
                <a:cs typeface="Aptos Bold"/>
                <a:sym typeface="Aptos Bold"/>
              </a:rPr>
              <a:t>Turning 100,000 Amazon orders into actionable business insights.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60120" y="2642235"/>
            <a:ext cx="3722370" cy="1733550"/>
            <a:chOff x="0" y="0"/>
            <a:chExt cx="4963160" cy="2311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63160" cy="2311400"/>
            </a:xfrm>
            <a:custGeom>
              <a:avLst/>
              <a:gdLst/>
              <a:ahLst/>
              <a:cxnLst/>
              <a:rect r="r" b="b" t="t" l="l"/>
              <a:pathLst>
                <a:path h="2311400" w="4963160">
                  <a:moveTo>
                    <a:pt x="0" y="385191"/>
                  </a:moveTo>
                  <a:cubicBezTo>
                    <a:pt x="0" y="172466"/>
                    <a:pt x="172466" y="0"/>
                    <a:pt x="385191" y="0"/>
                  </a:cubicBezTo>
                  <a:lnTo>
                    <a:pt x="4577969" y="0"/>
                  </a:lnTo>
                  <a:cubicBezTo>
                    <a:pt x="4790694" y="0"/>
                    <a:pt x="4963160" y="172466"/>
                    <a:pt x="4963160" y="385191"/>
                  </a:cubicBezTo>
                  <a:lnTo>
                    <a:pt x="4963160" y="1926209"/>
                  </a:lnTo>
                  <a:cubicBezTo>
                    <a:pt x="4963160" y="2138934"/>
                    <a:pt x="4790694" y="2311400"/>
                    <a:pt x="4577969" y="2311400"/>
                  </a:cubicBezTo>
                  <a:lnTo>
                    <a:pt x="385191" y="2311400"/>
                  </a:lnTo>
                  <a:cubicBezTo>
                    <a:pt x="172466" y="2311400"/>
                    <a:pt x="0" y="2138934"/>
                    <a:pt x="0" y="19262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" y="2661285"/>
            <a:ext cx="109728" cy="1714500"/>
            <a:chOff x="0" y="0"/>
            <a:chExt cx="146304" cy="228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315E91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62837" y="2953893"/>
            <a:ext cx="3040380" cy="933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5F6C7D"/>
                </a:solidFill>
                <a:latin typeface="Aptos Bold"/>
                <a:ea typeface="Aptos Bold"/>
                <a:cs typeface="Aptos Bold"/>
                <a:sym typeface="Aptos Bold"/>
              </a:rPr>
              <a:t>Orders</a:t>
            </a:r>
          </a:p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100,000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006340" y="2642235"/>
            <a:ext cx="3722370" cy="1733550"/>
            <a:chOff x="0" y="0"/>
            <a:chExt cx="4963160" cy="2311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63160" cy="2311400"/>
            </a:xfrm>
            <a:custGeom>
              <a:avLst/>
              <a:gdLst/>
              <a:ahLst/>
              <a:cxnLst/>
              <a:rect r="r" b="b" t="t" l="l"/>
              <a:pathLst>
                <a:path h="2311400" w="4963160">
                  <a:moveTo>
                    <a:pt x="0" y="385191"/>
                  </a:moveTo>
                  <a:cubicBezTo>
                    <a:pt x="0" y="172466"/>
                    <a:pt x="172466" y="0"/>
                    <a:pt x="385191" y="0"/>
                  </a:cubicBezTo>
                  <a:lnTo>
                    <a:pt x="4577969" y="0"/>
                  </a:lnTo>
                  <a:cubicBezTo>
                    <a:pt x="4790694" y="0"/>
                    <a:pt x="4963160" y="172466"/>
                    <a:pt x="4963160" y="385191"/>
                  </a:cubicBezTo>
                  <a:lnTo>
                    <a:pt x="4963160" y="1926209"/>
                  </a:lnTo>
                  <a:cubicBezTo>
                    <a:pt x="4963160" y="2138934"/>
                    <a:pt x="4790694" y="2311400"/>
                    <a:pt x="4577969" y="2311400"/>
                  </a:cubicBezTo>
                  <a:lnTo>
                    <a:pt x="385191" y="2311400"/>
                  </a:lnTo>
                  <a:cubicBezTo>
                    <a:pt x="172466" y="2311400"/>
                    <a:pt x="0" y="2138934"/>
                    <a:pt x="0" y="19262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5015865" y="2651760"/>
            <a:ext cx="109728" cy="1714500"/>
            <a:chOff x="0" y="0"/>
            <a:chExt cx="146304" cy="228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279A91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409057" y="2953893"/>
            <a:ext cx="3040380" cy="933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5F6C7D"/>
                </a:solidFill>
                <a:latin typeface="Aptos Bold"/>
                <a:ea typeface="Aptos Bold"/>
                <a:cs typeface="Aptos Bold"/>
                <a:sym typeface="Aptos Bold"/>
              </a:rPr>
              <a:t>Original Columns</a:t>
            </a:r>
          </a:p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20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052560" y="2642235"/>
            <a:ext cx="3722370" cy="1733550"/>
            <a:chOff x="0" y="0"/>
            <a:chExt cx="4963160" cy="2311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63160" cy="2311400"/>
            </a:xfrm>
            <a:custGeom>
              <a:avLst/>
              <a:gdLst/>
              <a:ahLst/>
              <a:cxnLst/>
              <a:rect r="r" b="b" t="t" l="l"/>
              <a:pathLst>
                <a:path h="2311400" w="4963160">
                  <a:moveTo>
                    <a:pt x="0" y="385191"/>
                  </a:moveTo>
                  <a:cubicBezTo>
                    <a:pt x="0" y="172466"/>
                    <a:pt x="172466" y="0"/>
                    <a:pt x="385191" y="0"/>
                  </a:cubicBezTo>
                  <a:lnTo>
                    <a:pt x="4577969" y="0"/>
                  </a:lnTo>
                  <a:cubicBezTo>
                    <a:pt x="4790694" y="0"/>
                    <a:pt x="4963160" y="172466"/>
                    <a:pt x="4963160" y="385191"/>
                  </a:cubicBezTo>
                  <a:lnTo>
                    <a:pt x="4963160" y="1926209"/>
                  </a:lnTo>
                  <a:cubicBezTo>
                    <a:pt x="4963160" y="2138934"/>
                    <a:pt x="4790694" y="2311400"/>
                    <a:pt x="4577969" y="2311400"/>
                  </a:cubicBezTo>
                  <a:lnTo>
                    <a:pt x="385191" y="2311400"/>
                  </a:lnTo>
                  <a:cubicBezTo>
                    <a:pt x="172466" y="2311400"/>
                    <a:pt x="0" y="2138934"/>
                    <a:pt x="0" y="19262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062085" y="2651760"/>
            <a:ext cx="109728" cy="1714500"/>
            <a:chOff x="0" y="0"/>
            <a:chExt cx="146304" cy="228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E6892D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455277" y="2953893"/>
            <a:ext cx="3040380" cy="933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5F6C7D"/>
                </a:solidFill>
                <a:latin typeface="Aptos Bold"/>
                <a:ea typeface="Aptos Bold"/>
                <a:cs typeface="Aptos Bold"/>
                <a:sym typeface="Aptos Bold"/>
              </a:rPr>
              <a:t>Years</a:t>
            </a:r>
          </a:p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2020 – 2024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098780" y="2642235"/>
            <a:ext cx="3722370" cy="1733550"/>
            <a:chOff x="0" y="0"/>
            <a:chExt cx="4963160" cy="2311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63160" cy="2311400"/>
            </a:xfrm>
            <a:custGeom>
              <a:avLst/>
              <a:gdLst/>
              <a:ahLst/>
              <a:cxnLst/>
              <a:rect r="r" b="b" t="t" l="l"/>
              <a:pathLst>
                <a:path h="2311400" w="4963160">
                  <a:moveTo>
                    <a:pt x="0" y="385191"/>
                  </a:moveTo>
                  <a:cubicBezTo>
                    <a:pt x="0" y="172466"/>
                    <a:pt x="172466" y="0"/>
                    <a:pt x="385191" y="0"/>
                  </a:cubicBezTo>
                  <a:lnTo>
                    <a:pt x="4577969" y="0"/>
                  </a:lnTo>
                  <a:cubicBezTo>
                    <a:pt x="4790694" y="0"/>
                    <a:pt x="4963160" y="172466"/>
                    <a:pt x="4963160" y="385191"/>
                  </a:cubicBezTo>
                  <a:lnTo>
                    <a:pt x="4963160" y="1926209"/>
                  </a:lnTo>
                  <a:cubicBezTo>
                    <a:pt x="4963160" y="2138934"/>
                    <a:pt x="4790694" y="2311400"/>
                    <a:pt x="4577969" y="2311400"/>
                  </a:cubicBezTo>
                  <a:lnTo>
                    <a:pt x="385191" y="2311400"/>
                  </a:lnTo>
                  <a:cubicBezTo>
                    <a:pt x="172466" y="2311400"/>
                    <a:pt x="0" y="2138934"/>
                    <a:pt x="0" y="19262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3108305" y="2651760"/>
            <a:ext cx="109728" cy="1714500"/>
            <a:chOff x="0" y="0"/>
            <a:chExt cx="146304" cy="2286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34915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3501497" y="2953893"/>
            <a:ext cx="3040380" cy="933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5F6C7D"/>
                </a:solidFill>
                <a:latin typeface="Aptos Bold"/>
                <a:ea typeface="Aptos Bold"/>
                <a:cs typeface="Aptos Bold"/>
                <a:sym typeface="Aptos Bold"/>
              </a:rPr>
              <a:t>Sellers</a:t>
            </a:r>
          </a:p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1,999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25880" y="5233035"/>
            <a:ext cx="16429757" cy="2390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Understand sales performance and order patterns.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Analyze customer behavior and repeat purchases.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Identify strong and weak products, categories, brands and markets.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Translate findings into practical business recommendations.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413480" y="9686925"/>
            <a:ext cx="914400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2980" y="525780"/>
            <a:ext cx="1627632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Problem Statement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24915" y="2116455"/>
            <a:ext cx="15792450" cy="1870710"/>
            <a:chOff x="0" y="0"/>
            <a:chExt cx="21056600" cy="2494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56600" cy="2494280"/>
            </a:xfrm>
            <a:custGeom>
              <a:avLst/>
              <a:gdLst/>
              <a:ahLst/>
              <a:cxnLst/>
              <a:rect r="r" b="b" t="t" l="l"/>
              <a:pathLst>
                <a:path h="2494280" w="21056600">
                  <a:moveTo>
                    <a:pt x="0" y="415671"/>
                  </a:moveTo>
                  <a:cubicBezTo>
                    <a:pt x="0" y="186182"/>
                    <a:pt x="186182" y="0"/>
                    <a:pt x="415671" y="0"/>
                  </a:cubicBezTo>
                  <a:lnTo>
                    <a:pt x="20640929" y="0"/>
                  </a:lnTo>
                  <a:cubicBezTo>
                    <a:pt x="20870418" y="0"/>
                    <a:pt x="21056600" y="186182"/>
                    <a:pt x="21056600" y="415671"/>
                  </a:cubicBezTo>
                  <a:lnTo>
                    <a:pt x="21056600" y="2078609"/>
                  </a:lnTo>
                  <a:cubicBezTo>
                    <a:pt x="21056600" y="2308225"/>
                    <a:pt x="20870418" y="2494280"/>
                    <a:pt x="20640929" y="2494280"/>
                  </a:cubicBezTo>
                  <a:lnTo>
                    <a:pt x="415671" y="2494280"/>
                  </a:lnTo>
                  <a:cubicBezTo>
                    <a:pt x="186182" y="2494280"/>
                    <a:pt x="0" y="2308098"/>
                    <a:pt x="0" y="20786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34440" y="2125980"/>
            <a:ext cx="109728" cy="1851660"/>
            <a:chOff x="0" y="0"/>
            <a:chExt cx="146304" cy="2468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" cy="2468880"/>
            </a:xfrm>
            <a:custGeom>
              <a:avLst/>
              <a:gdLst/>
              <a:ahLst/>
              <a:cxnLst/>
              <a:rect r="r" b="b" t="t" l="l"/>
              <a:pathLst>
                <a:path h="24688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468880"/>
                  </a:lnTo>
                  <a:lnTo>
                    <a:pt x="0" y="2468880"/>
                  </a:lnTo>
                  <a:close/>
                </a:path>
              </a:pathLst>
            </a:custGeom>
            <a:solidFill>
              <a:srgbClr val="279A91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627632" y="2428113"/>
            <a:ext cx="5575343" cy="590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5F6C7D"/>
                </a:solidFill>
                <a:latin typeface="Aptos Bold"/>
                <a:ea typeface="Aptos Bold"/>
                <a:cs typeface="Aptos Bold"/>
                <a:sym typeface="Aptos Bold"/>
              </a:rPr>
              <a:t>Business Question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00200" y="4512945"/>
            <a:ext cx="14904720" cy="299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Which products and categories perform best?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Where are the strongest markets?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How do customers behave and how often do they repeat?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Which brands and sellers stand out?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What patterns can support better business decisions?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13480" y="9686925"/>
            <a:ext cx="914400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27632" y="3141021"/>
            <a:ext cx="14785848" cy="409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What drives order volume and sales performance across customers, products and markets?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2980" y="525780"/>
            <a:ext cx="1627632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Objectives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19175" y="2116455"/>
            <a:ext cx="5025390" cy="2282190"/>
            <a:chOff x="0" y="0"/>
            <a:chExt cx="6700520" cy="30429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00520" cy="3042920"/>
            </a:xfrm>
            <a:custGeom>
              <a:avLst/>
              <a:gdLst/>
              <a:ahLst/>
              <a:cxnLst/>
              <a:rect r="r" b="b" t="t" l="l"/>
              <a:pathLst>
                <a:path h="3042920" w="6700520">
                  <a:moveTo>
                    <a:pt x="0" y="507111"/>
                  </a:moveTo>
                  <a:cubicBezTo>
                    <a:pt x="0" y="227076"/>
                    <a:pt x="227076" y="0"/>
                    <a:pt x="507111" y="0"/>
                  </a:cubicBezTo>
                  <a:lnTo>
                    <a:pt x="6193409" y="0"/>
                  </a:lnTo>
                  <a:cubicBezTo>
                    <a:pt x="6473571" y="0"/>
                    <a:pt x="6700520" y="227076"/>
                    <a:pt x="6700520" y="507111"/>
                  </a:cubicBezTo>
                  <a:lnTo>
                    <a:pt x="6700520" y="2535809"/>
                  </a:lnTo>
                  <a:cubicBezTo>
                    <a:pt x="6700520" y="2815971"/>
                    <a:pt x="6473444" y="3042920"/>
                    <a:pt x="6193409" y="3042920"/>
                  </a:cubicBezTo>
                  <a:lnTo>
                    <a:pt x="507111" y="3042920"/>
                  </a:lnTo>
                  <a:cubicBezTo>
                    <a:pt x="227076" y="3042920"/>
                    <a:pt x="0" y="2815844"/>
                    <a:pt x="0" y="25358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2125980"/>
            <a:ext cx="109728" cy="2263140"/>
            <a:chOff x="0" y="0"/>
            <a:chExt cx="146304" cy="3017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" cy="3017520"/>
            </a:xfrm>
            <a:custGeom>
              <a:avLst/>
              <a:gdLst/>
              <a:ahLst/>
              <a:cxnLst/>
              <a:rect r="r" b="b" t="t" l="l"/>
              <a:pathLst>
                <a:path h="3017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017520"/>
                  </a:lnTo>
                  <a:lnTo>
                    <a:pt x="0" y="3017520"/>
                  </a:lnTo>
                  <a:close/>
                </a:path>
              </a:pathLst>
            </a:custGeom>
            <a:solidFill>
              <a:srgbClr val="315E91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21892" y="2418588"/>
            <a:ext cx="4622673" cy="137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5F6C7D"/>
                </a:solidFill>
                <a:latin typeface="Aptos Bold"/>
                <a:ea typeface="Aptos Bold"/>
                <a:cs typeface="Aptos Bold"/>
                <a:sym typeface="Aptos Bold"/>
              </a:rPr>
              <a:t>Sales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Measure sales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and order performance.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933324" y="2116455"/>
            <a:ext cx="8783372" cy="2282190"/>
            <a:chOff x="0" y="0"/>
            <a:chExt cx="11711163" cy="3042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11163" cy="3042920"/>
            </a:xfrm>
            <a:custGeom>
              <a:avLst/>
              <a:gdLst/>
              <a:ahLst/>
              <a:cxnLst/>
              <a:rect r="r" b="b" t="t" l="l"/>
              <a:pathLst>
                <a:path h="3042920" w="11711163">
                  <a:moveTo>
                    <a:pt x="0" y="507111"/>
                  </a:moveTo>
                  <a:cubicBezTo>
                    <a:pt x="0" y="227076"/>
                    <a:pt x="396883" y="0"/>
                    <a:pt x="886328" y="0"/>
                  </a:cubicBezTo>
                  <a:lnTo>
                    <a:pt x="10824835" y="0"/>
                  </a:lnTo>
                  <a:cubicBezTo>
                    <a:pt x="11314502" y="0"/>
                    <a:pt x="11711163" y="227076"/>
                    <a:pt x="11711163" y="507111"/>
                  </a:cubicBezTo>
                  <a:lnTo>
                    <a:pt x="11711163" y="2535809"/>
                  </a:lnTo>
                  <a:cubicBezTo>
                    <a:pt x="11711163" y="2815971"/>
                    <a:pt x="11314280" y="3042920"/>
                    <a:pt x="10824835" y="3042920"/>
                  </a:cubicBezTo>
                  <a:lnTo>
                    <a:pt x="886328" y="3042920"/>
                  </a:lnTo>
                  <a:cubicBezTo>
                    <a:pt x="396883" y="3042920"/>
                    <a:pt x="0" y="2815844"/>
                    <a:pt x="0" y="25358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942849" y="2125980"/>
            <a:ext cx="109728" cy="2263140"/>
            <a:chOff x="0" y="0"/>
            <a:chExt cx="146304" cy="3017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" cy="3017520"/>
            </a:xfrm>
            <a:custGeom>
              <a:avLst/>
              <a:gdLst/>
              <a:ahLst/>
              <a:cxnLst/>
              <a:rect r="r" b="b" t="t" l="l"/>
              <a:pathLst>
                <a:path h="3017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017520"/>
                  </a:lnTo>
                  <a:lnTo>
                    <a:pt x="0" y="3017520"/>
                  </a:lnTo>
                  <a:close/>
                </a:path>
              </a:pathLst>
            </a:custGeom>
            <a:solidFill>
              <a:srgbClr val="279A91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336041" y="2418588"/>
            <a:ext cx="7463234" cy="137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5F6C7D"/>
                </a:solidFill>
                <a:latin typeface="Aptos Bold"/>
                <a:ea typeface="Aptos Bold"/>
                <a:cs typeface="Aptos Bold"/>
                <a:sym typeface="Aptos Bold"/>
              </a:rPr>
              <a:t>Customers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Understand purchase frequency and repeat behavior.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7699" y="5388771"/>
            <a:ext cx="5025390" cy="2282190"/>
            <a:chOff x="0" y="0"/>
            <a:chExt cx="6700520" cy="3042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00520" cy="3042920"/>
            </a:xfrm>
            <a:custGeom>
              <a:avLst/>
              <a:gdLst/>
              <a:ahLst/>
              <a:cxnLst/>
              <a:rect r="r" b="b" t="t" l="l"/>
              <a:pathLst>
                <a:path h="3042920" w="6700520">
                  <a:moveTo>
                    <a:pt x="0" y="507111"/>
                  </a:moveTo>
                  <a:cubicBezTo>
                    <a:pt x="0" y="227076"/>
                    <a:pt x="227076" y="0"/>
                    <a:pt x="507111" y="0"/>
                  </a:cubicBezTo>
                  <a:lnTo>
                    <a:pt x="6193409" y="0"/>
                  </a:lnTo>
                  <a:cubicBezTo>
                    <a:pt x="6473571" y="0"/>
                    <a:pt x="6700520" y="227076"/>
                    <a:pt x="6700520" y="507111"/>
                  </a:cubicBezTo>
                  <a:lnTo>
                    <a:pt x="6700520" y="2535809"/>
                  </a:lnTo>
                  <a:cubicBezTo>
                    <a:pt x="6700520" y="2815971"/>
                    <a:pt x="6473444" y="3042920"/>
                    <a:pt x="6193409" y="3042920"/>
                  </a:cubicBezTo>
                  <a:lnTo>
                    <a:pt x="507111" y="3042920"/>
                  </a:lnTo>
                  <a:cubicBezTo>
                    <a:pt x="227076" y="3042920"/>
                    <a:pt x="0" y="2815844"/>
                    <a:pt x="0" y="25358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37224" y="5398296"/>
            <a:ext cx="109728" cy="2263140"/>
            <a:chOff x="0" y="0"/>
            <a:chExt cx="146304" cy="3017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" cy="3017520"/>
            </a:xfrm>
            <a:custGeom>
              <a:avLst/>
              <a:gdLst/>
              <a:ahLst/>
              <a:cxnLst/>
              <a:rect r="r" b="b" t="t" l="l"/>
              <a:pathLst>
                <a:path h="3017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017520"/>
                  </a:lnTo>
                  <a:lnTo>
                    <a:pt x="0" y="3017520"/>
                  </a:lnTo>
                  <a:close/>
                </a:path>
              </a:pathLst>
            </a:custGeom>
            <a:solidFill>
              <a:srgbClr val="E6892D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430416" y="5690904"/>
            <a:ext cx="4622673" cy="137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5F6C7D"/>
                </a:solidFill>
                <a:latin typeface="Aptos Bold"/>
                <a:ea typeface="Aptos Bold"/>
                <a:cs typeface="Aptos Bold"/>
                <a:sym typeface="Aptos Bold"/>
              </a:rPr>
              <a:t>Products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Identify best and worst performing products.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933324" y="5335143"/>
            <a:ext cx="5025390" cy="2282190"/>
            <a:chOff x="0" y="0"/>
            <a:chExt cx="6700520" cy="3042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00520" cy="3042920"/>
            </a:xfrm>
            <a:custGeom>
              <a:avLst/>
              <a:gdLst/>
              <a:ahLst/>
              <a:cxnLst/>
              <a:rect r="r" b="b" t="t" l="l"/>
              <a:pathLst>
                <a:path h="3042920" w="6700520">
                  <a:moveTo>
                    <a:pt x="0" y="507111"/>
                  </a:moveTo>
                  <a:cubicBezTo>
                    <a:pt x="0" y="227076"/>
                    <a:pt x="227076" y="0"/>
                    <a:pt x="507111" y="0"/>
                  </a:cubicBezTo>
                  <a:lnTo>
                    <a:pt x="6193409" y="0"/>
                  </a:lnTo>
                  <a:cubicBezTo>
                    <a:pt x="6473571" y="0"/>
                    <a:pt x="6700520" y="227076"/>
                    <a:pt x="6700520" y="507111"/>
                  </a:cubicBezTo>
                  <a:lnTo>
                    <a:pt x="6700520" y="2535809"/>
                  </a:lnTo>
                  <a:cubicBezTo>
                    <a:pt x="6700520" y="2815971"/>
                    <a:pt x="6473444" y="3042920"/>
                    <a:pt x="6193409" y="3042920"/>
                  </a:cubicBezTo>
                  <a:lnTo>
                    <a:pt x="507111" y="3042920"/>
                  </a:lnTo>
                  <a:cubicBezTo>
                    <a:pt x="227076" y="3042920"/>
                    <a:pt x="0" y="2815844"/>
                    <a:pt x="0" y="25358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231255" y="5212080"/>
            <a:ext cx="109728" cy="2263140"/>
            <a:chOff x="0" y="0"/>
            <a:chExt cx="146304" cy="3017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" cy="3017520"/>
            </a:xfrm>
            <a:custGeom>
              <a:avLst/>
              <a:gdLst/>
              <a:ahLst/>
              <a:cxnLst/>
              <a:rect r="r" b="b" t="t" l="l"/>
              <a:pathLst>
                <a:path h="3017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017520"/>
                  </a:lnTo>
                  <a:lnTo>
                    <a:pt x="0" y="3017520"/>
                  </a:lnTo>
                  <a:close/>
                </a:path>
              </a:pathLst>
            </a:custGeom>
            <a:solidFill>
              <a:srgbClr val="34915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336041" y="5637276"/>
            <a:ext cx="4343400" cy="137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5F6C7D"/>
                </a:solidFill>
                <a:latin typeface="Aptos Bold"/>
                <a:ea typeface="Aptos Bold"/>
                <a:cs typeface="Aptos Bold"/>
                <a:sym typeface="Aptos Bold"/>
              </a:rPr>
              <a:t>Markets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Compare countries and states.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556884" y="5335143"/>
            <a:ext cx="5025390" cy="2282190"/>
            <a:chOff x="0" y="0"/>
            <a:chExt cx="6700520" cy="30429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00520" cy="3042920"/>
            </a:xfrm>
            <a:custGeom>
              <a:avLst/>
              <a:gdLst/>
              <a:ahLst/>
              <a:cxnLst/>
              <a:rect r="r" b="b" t="t" l="l"/>
              <a:pathLst>
                <a:path h="3042920" w="6700520">
                  <a:moveTo>
                    <a:pt x="0" y="507111"/>
                  </a:moveTo>
                  <a:cubicBezTo>
                    <a:pt x="0" y="227076"/>
                    <a:pt x="227076" y="0"/>
                    <a:pt x="507111" y="0"/>
                  </a:cubicBezTo>
                  <a:lnTo>
                    <a:pt x="6193409" y="0"/>
                  </a:lnTo>
                  <a:cubicBezTo>
                    <a:pt x="6473571" y="0"/>
                    <a:pt x="6700520" y="227076"/>
                    <a:pt x="6700520" y="507111"/>
                  </a:cubicBezTo>
                  <a:lnTo>
                    <a:pt x="6700520" y="2535809"/>
                  </a:lnTo>
                  <a:cubicBezTo>
                    <a:pt x="6700520" y="2815971"/>
                    <a:pt x="6473444" y="3042920"/>
                    <a:pt x="6193409" y="3042920"/>
                  </a:cubicBezTo>
                  <a:lnTo>
                    <a:pt x="507111" y="3042920"/>
                  </a:lnTo>
                  <a:cubicBezTo>
                    <a:pt x="227076" y="3042920"/>
                    <a:pt x="0" y="2815844"/>
                    <a:pt x="0" y="25358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566409" y="5344668"/>
            <a:ext cx="109728" cy="2263140"/>
            <a:chOff x="0" y="0"/>
            <a:chExt cx="146304" cy="3017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304" cy="3017520"/>
            </a:xfrm>
            <a:custGeom>
              <a:avLst/>
              <a:gdLst/>
              <a:ahLst/>
              <a:cxnLst/>
              <a:rect r="r" b="b" t="t" l="l"/>
              <a:pathLst>
                <a:path h="3017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017520"/>
                  </a:lnTo>
                  <a:lnTo>
                    <a:pt x="0" y="3017520"/>
                  </a:lnTo>
                  <a:close/>
                </a:path>
              </a:pathLst>
            </a:custGeom>
            <a:solidFill>
              <a:srgbClr val="C44C4C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959601" y="5637276"/>
            <a:ext cx="4343400" cy="137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5F6C7D"/>
                </a:solidFill>
                <a:latin typeface="Aptos Bold"/>
                <a:ea typeface="Aptos Bold"/>
                <a:cs typeface="Aptos Bold"/>
                <a:sym typeface="Aptos Bold"/>
              </a:rPr>
              <a:t>Business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Turn analysis into clear actions.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413480" y="9686925"/>
            <a:ext cx="914400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2980" y="525780"/>
            <a:ext cx="1627632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Dataset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0412" y="1389888"/>
            <a:ext cx="16002000" cy="457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Amazon Sales Dataset used for the analysis.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19175" y="2047875"/>
            <a:ext cx="3859530" cy="1733550"/>
            <a:chOff x="0" y="0"/>
            <a:chExt cx="5146040" cy="2311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46040" cy="2311400"/>
            </a:xfrm>
            <a:custGeom>
              <a:avLst/>
              <a:gdLst/>
              <a:ahLst/>
              <a:cxnLst/>
              <a:rect r="r" b="b" t="t" l="l"/>
              <a:pathLst>
                <a:path h="2311400" w="5146040">
                  <a:moveTo>
                    <a:pt x="0" y="385191"/>
                  </a:moveTo>
                  <a:cubicBezTo>
                    <a:pt x="0" y="172466"/>
                    <a:pt x="172466" y="0"/>
                    <a:pt x="385191" y="0"/>
                  </a:cubicBezTo>
                  <a:lnTo>
                    <a:pt x="4760849" y="0"/>
                  </a:lnTo>
                  <a:cubicBezTo>
                    <a:pt x="4973574" y="0"/>
                    <a:pt x="5146040" y="172466"/>
                    <a:pt x="5146040" y="385191"/>
                  </a:cubicBezTo>
                  <a:lnTo>
                    <a:pt x="5146040" y="1926209"/>
                  </a:lnTo>
                  <a:cubicBezTo>
                    <a:pt x="5146040" y="2138934"/>
                    <a:pt x="4973574" y="2311400"/>
                    <a:pt x="4760849" y="2311400"/>
                  </a:cubicBezTo>
                  <a:lnTo>
                    <a:pt x="385191" y="2311400"/>
                  </a:lnTo>
                  <a:cubicBezTo>
                    <a:pt x="172466" y="2311400"/>
                    <a:pt x="0" y="2138934"/>
                    <a:pt x="0" y="19262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2057400"/>
            <a:ext cx="109728" cy="1714500"/>
            <a:chOff x="0" y="0"/>
            <a:chExt cx="146304" cy="228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315E91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21892" y="2340483"/>
            <a:ext cx="3177540" cy="933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b="true">
                <a:solidFill>
                  <a:srgbClr val="5F6C7D"/>
                </a:solidFill>
                <a:latin typeface="Aptos Bold"/>
                <a:ea typeface="Aptos Bold"/>
                <a:cs typeface="Aptos Bold"/>
                <a:sym typeface="Aptos Bold"/>
              </a:rPr>
              <a:t>Rows</a:t>
            </a:r>
          </a:p>
          <a:p>
            <a:pPr algn="l">
              <a:lnSpc>
                <a:spcPts val="4859"/>
              </a:lnSpc>
            </a:pPr>
            <a:r>
              <a:rPr lang="en-US" sz="4049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100,000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133975" y="2047875"/>
            <a:ext cx="3859530" cy="1733550"/>
            <a:chOff x="0" y="0"/>
            <a:chExt cx="5146040" cy="2311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46040" cy="2311400"/>
            </a:xfrm>
            <a:custGeom>
              <a:avLst/>
              <a:gdLst/>
              <a:ahLst/>
              <a:cxnLst/>
              <a:rect r="r" b="b" t="t" l="l"/>
              <a:pathLst>
                <a:path h="2311400" w="5146040">
                  <a:moveTo>
                    <a:pt x="0" y="385191"/>
                  </a:moveTo>
                  <a:cubicBezTo>
                    <a:pt x="0" y="172466"/>
                    <a:pt x="172466" y="0"/>
                    <a:pt x="385191" y="0"/>
                  </a:cubicBezTo>
                  <a:lnTo>
                    <a:pt x="4760849" y="0"/>
                  </a:lnTo>
                  <a:cubicBezTo>
                    <a:pt x="4973574" y="0"/>
                    <a:pt x="5146040" y="172466"/>
                    <a:pt x="5146040" y="385191"/>
                  </a:cubicBezTo>
                  <a:lnTo>
                    <a:pt x="5146040" y="1926209"/>
                  </a:lnTo>
                  <a:cubicBezTo>
                    <a:pt x="5146040" y="2138934"/>
                    <a:pt x="4973574" y="2311400"/>
                    <a:pt x="4760849" y="2311400"/>
                  </a:cubicBezTo>
                  <a:lnTo>
                    <a:pt x="385191" y="2311400"/>
                  </a:lnTo>
                  <a:cubicBezTo>
                    <a:pt x="172466" y="2311400"/>
                    <a:pt x="0" y="2138934"/>
                    <a:pt x="0" y="19262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143500" y="2057400"/>
            <a:ext cx="109728" cy="1714500"/>
            <a:chOff x="0" y="0"/>
            <a:chExt cx="146304" cy="228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279A91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536692" y="2340483"/>
            <a:ext cx="3177540" cy="933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b="true">
                <a:solidFill>
                  <a:srgbClr val="5F6C7D"/>
                </a:solidFill>
                <a:latin typeface="Aptos Bold"/>
                <a:ea typeface="Aptos Bold"/>
                <a:cs typeface="Aptos Bold"/>
                <a:sym typeface="Aptos Bold"/>
              </a:rPr>
              <a:t>Original Columns</a:t>
            </a:r>
          </a:p>
          <a:p>
            <a:pPr algn="l">
              <a:lnSpc>
                <a:spcPts val="4859"/>
              </a:lnSpc>
            </a:pPr>
            <a:r>
              <a:rPr lang="en-US" sz="4049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20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48775" y="2047875"/>
            <a:ext cx="3859530" cy="1733550"/>
            <a:chOff x="0" y="0"/>
            <a:chExt cx="5146040" cy="2311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46040" cy="2311400"/>
            </a:xfrm>
            <a:custGeom>
              <a:avLst/>
              <a:gdLst/>
              <a:ahLst/>
              <a:cxnLst/>
              <a:rect r="r" b="b" t="t" l="l"/>
              <a:pathLst>
                <a:path h="2311400" w="5146040">
                  <a:moveTo>
                    <a:pt x="0" y="385191"/>
                  </a:moveTo>
                  <a:cubicBezTo>
                    <a:pt x="0" y="172466"/>
                    <a:pt x="172466" y="0"/>
                    <a:pt x="385191" y="0"/>
                  </a:cubicBezTo>
                  <a:lnTo>
                    <a:pt x="4760849" y="0"/>
                  </a:lnTo>
                  <a:cubicBezTo>
                    <a:pt x="4973574" y="0"/>
                    <a:pt x="5146040" y="172466"/>
                    <a:pt x="5146040" y="385191"/>
                  </a:cubicBezTo>
                  <a:lnTo>
                    <a:pt x="5146040" y="1926209"/>
                  </a:lnTo>
                  <a:cubicBezTo>
                    <a:pt x="5146040" y="2138934"/>
                    <a:pt x="4973574" y="2311400"/>
                    <a:pt x="4760849" y="2311400"/>
                  </a:cubicBezTo>
                  <a:lnTo>
                    <a:pt x="385191" y="2311400"/>
                  </a:lnTo>
                  <a:cubicBezTo>
                    <a:pt x="172466" y="2311400"/>
                    <a:pt x="0" y="2138934"/>
                    <a:pt x="0" y="19262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258300" y="2057400"/>
            <a:ext cx="109728" cy="1714500"/>
            <a:chOff x="0" y="0"/>
            <a:chExt cx="146304" cy="2286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304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E6892D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651492" y="2340483"/>
            <a:ext cx="3177540" cy="933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b="true">
                <a:solidFill>
                  <a:srgbClr val="5F6C7D"/>
                </a:solidFill>
                <a:latin typeface="Aptos Bold"/>
                <a:ea typeface="Aptos Bold"/>
                <a:cs typeface="Aptos Bold"/>
                <a:sym typeface="Aptos Bold"/>
              </a:rPr>
              <a:t>Final Columns</a:t>
            </a:r>
          </a:p>
          <a:p>
            <a:pPr algn="l">
              <a:lnSpc>
                <a:spcPts val="4859"/>
              </a:lnSpc>
            </a:pPr>
            <a:r>
              <a:rPr lang="en-US" sz="4049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22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363575" y="2047875"/>
            <a:ext cx="3859530" cy="1733550"/>
            <a:chOff x="0" y="0"/>
            <a:chExt cx="5146040" cy="2311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46040" cy="2311400"/>
            </a:xfrm>
            <a:custGeom>
              <a:avLst/>
              <a:gdLst/>
              <a:ahLst/>
              <a:cxnLst/>
              <a:rect r="r" b="b" t="t" l="l"/>
              <a:pathLst>
                <a:path h="2311400" w="5146040">
                  <a:moveTo>
                    <a:pt x="0" y="385191"/>
                  </a:moveTo>
                  <a:cubicBezTo>
                    <a:pt x="0" y="172466"/>
                    <a:pt x="172466" y="0"/>
                    <a:pt x="385191" y="0"/>
                  </a:cubicBezTo>
                  <a:lnTo>
                    <a:pt x="4760849" y="0"/>
                  </a:lnTo>
                  <a:cubicBezTo>
                    <a:pt x="4973574" y="0"/>
                    <a:pt x="5146040" y="172466"/>
                    <a:pt x="5146040" y="385191"/>
                  </a:cubicBezTo>
                  <a:lnTo>
                    <a:pt x="5146040" y="1926209"/>
                  </a:lnTo>
                  <a:cubicBezTo>
                    <a:pt x="5146040" y="2138934"/>
                    <a:pt x="4973574" y="2311400"/>
                    <a:pt x="4760849" y="2311400"/>
                  </a:cubicBezTo>
                  <a:lnTo>
                    <a:pt x="385191" y="2311400"/>
                  </a:lnTo>
                  <a:cubicBezTo>
                    <a:pt x="172466" y="2311400"/>
                    <a:pt x="0" y="2138934"/>
                    <a:pt x="0" y="19262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373100" y="2057400"/>
            <a:ext cx="109728" cy="1714500"/>
            <a:chOff x="0" y="0"/>
            <a:chExt cx="146304" cy="2286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34915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3766292" y="2340483"/>
            <a:ext cx="3177540" cy="128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b="true">
                <a:solidFill>
                  <a:srgbClr val="5F6C7D"/>
                </a:solidFill>
                <a:latin typeface="Aptos Bold"/>
                <a:ea typeface="Aptos Bold"/>
                <a:cs typeface="Aptos Bold"/>
                <a:sym typeface="Aptos Bold"/>
              </a:rPr>
              <a:t>Order Value</a:t>
            </a:r>
          </a:p>
          <a:p>
            <a:pPr algn="l">
              <a:lnSpc>
                <a:spcPts val="4859"/>
              </a:lnSpc>
            </a:pPr>
            <a:r>
              <a:rPr lang="en-US" sz="4049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Avg. 918</a:t>
            </a:r>
          </a:p>
          <a:p>
            <a:pPr algn="l">
              <a:lnSpc>
                <a:spcPts val="2819"/>
              </a:lnSpc>
            </a:pPr>
            <a:r>
              <a:rPr lang="en-US" sz="2349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Median: 714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25880" y="5004000"/>
            <a:ext cx="15453360" cy="299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Key fields: OrderID, CustomerID, ProductName, Category, Brand,           Quantity, TotalAmount, Country, State and SellerID.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Numeric fields include Quantity, UnitPrice, Discount, Tax, ShippingCost and TotalAmount.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OrderDate was converted to datetime and Year was extracted.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413480" y="9686925"/>
            <a:ext cx="914400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2980" y="525780"/>
            <a:ext cx="1627632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Data Cleaning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0412" y="1389888"/>
            <a:ext cx="16002000" cy="457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Major data-quality checks and transformations.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87755" y="2116455"/>
            <a:ext cx="3859530" cy="2007870"/>
            <a:chOff x="0" y="0"/>
            <a:chExt cx="5146040" cy="2677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46040" cy="2677160"/>
            </a:xfrm>
            <a:custGeom>
              <a:avLst/>
              <a:gdLst/>
              <a:ahLst/>
              <a:cxnLst/>
              <a:rect r="r" b="b" t="t" l="l"/>
              <a:pathLst>
                <a:path h="2677160" w="5146040">
                  <a:moveTo>
                    <a:pt x="0" y="446151"/>
                  </a:moveTo>
                  <a:cubicBezTo>
                    <a:pt x="0" y="199771"/>
                    <a:pt x="199771" y="0"/>
                    <a:pt x="446151" y="0"/>
                  </a:cubicBezTo>
                  <a:lnTo>
                    <a:pt x="4699889" y="0"/>
                  </a:lnTo>
                  <a:cubicBezTo>
                    <a:pt x="4946269" y="0"/>
                    <a:pt x="5146040" y="199771"/>
                    <a:pt x="5146040" y="446151"/>
                  </a:cubicBezTo>
                  <a:lnTo>
                    <a:pt x="5146040" y="2231009"/>
                  </a:lnTo>
                  <a:cubicBezTo>
                    <a:pt x="5146040" y="2477389"/>
                    <a:pt x="4946269" y="2677160"/>
                    <a:pt x="4699889" y="2677160"/>
                  </a:cubicBezTo>
                  <a:lnTo>
                    <a:pt x="446151" y="2677160"/>
                  </a:lnTo>
                  <a:cubicBezTo>
                    <a:pt x="199771" y="2677160"/>
                    <a:pt x="0" y="2477389"/>
                    <a:pt x="0" y="22310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" y="2125980"/>
            <a:ext cx="109728" cy="1988820"/>
            <a:chOff x="0" y="0"/>
            <a:chExt cx="146304" cy="2651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" cy="2651760"/>
            </a:xfrm>
            <a:custGeom>
              <a:avLst/>
              <a:gdLst/>
              <a:ahLst/>
              <a:cxnLst/>
              <a:rect r="r" b="b" t="t" l="l"/>
              <a:pathLst>
                <a:path h="26517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651760"/>
                  </a:lnTo>
                  <a:lnTo>
                    <a:pt x="0" y="2651760"/>
                  </a:lnTo>
                  <a:close/>
                </a:path>
              </a:pathLst>
            </a:custGeom>
            <a:solidFill>
              <a:srgbClr val="34915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90472" y="2418588"/>
            <a:ext cx="317754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5F6C7D"/>
                </a:solidFill>
                <a:latin typeface="Aptos Bold"/>
                <a:ea typeface="Aptos Bold"/>
                <a:cs typeface="Aptos Bold"/>
                <a:sym typeface="Aptos Bold"/>
              </a:rPr>
              <a:t>Missing Values</a:t>
            </a:r>
          </a:p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0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No null values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271135" y="2116455"/>
            <a:ext cx="3859530" cy="2007870"/>
            <a:chOff x="0" y="0"/>
            <a:chExt cx="5146040" cy="2677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46040" cy="2677160"/>
            </a:xfrm>
            <a:custGeom>
              <a:avLst/>
              <a:gdLst/>
              <a:ahLst/>
              <a:cxnLst/>
              <a:rect r="r" b="b" t="t" l="l"/>
              <a:pathLst>
                <a:path h="2677160" w="5146040">
                  <a:moveTo>
                    <a:pt x="0" y="446151"/>
                  </a:moveTo>
                  <a:cubicBezTo>
                    <a:pt x="0" y="199771"/>
                    <a:pt x="199771" y="0"/>
                    <a:pt x="446151" y="0"/>
                  </a:cubicBezTo>
                  <a:lnTo>
                    <a:pt x="4699889" y="0"/>
                  </a:lnTo>
                  <a:cubicBezTo>
                    <a:pt x="4946269" y="0"/>
                    <a:pt x="5146040" y="199771"/>
                    <a:pt x="5146040" y="446151"/>
                  </a:cubicBezTo>
                  <a:lnTo>
                    <a:pt x="5146040" y="2231009"/>
                  </a:lnTo>
                  <a:cubicBezTo>
                    <a:pt x="5146040" y="2477389"/>
                    <a:pt x="4946269" y="2677160"/>
                    <a:pt x="4699889" y="2677160"/>
                  </a:cubicBezTo>
                  <a:lnTo>
                    <a:pt x="446151" y="2677160"/>
                  </a:lnTo>
                  <a:cubicBezTo>
                    <a:pt x="199771" y="2677160"/>
                    <a:pt x="0" y="2477389"/>
                    <a:pt x="0" y="22310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280660" y="2125980"/>
            <a:ext cx="109728" cy="1988820"/>
            <a:chOff x="0" y="0"/>
            <a:chExt cx="146304" cy="26517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" cy="2651760"/>
            </a:xfrm>
            <a:custGeom>
              <a:avLst/>
              <a:gdLst/>
              <a:ahLst/>
              <a:cxnLst/>
              <a:rect r="r" b="b" t="t" l="l"/>
              <a:pathLst>
                <a:path h="26517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651760"/>
                  </a:lnTo>
                  <a:lnTo>
                    <a:pt x="0" y="2651760"/>
                  </a:lnTo>
                  <a:close/>
                </a:path>
              </a:pathLst>
            </a:custGeom>
            <a:solidFill>
              <a:srgbClr val="34915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673852" y="2418588"/>
            <a:ext cx="317754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5F6C7D"/>
                </a:solidFill>
                <a:latin typeface="Aptos Bold"/>
                <a:ea typeface="Aptos Bold"/>
                <a:cs typeface="Aptos Bold"/>
                <a:sym typeface="Aptos Bold"/>
              </a:rPr>
              <a:t>Duplicate Rows</a:t>
            </a:r>
          </a:p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0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No duplicates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454515" y="2116455"/>
            <a:ext cx="3859530" cy="2007870"/>
            <a:chOff x="0" y="0"/>
            <a:chExt cx="5146040" cy="2677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46040" cy="2677160"/>
            </a:xfrm>
            <a:custGeom>
              <a:avLst/>
              <a:gdLst/>
              <a:ahLst/>
              <a:cxnLst/>
              <a:rect r="r" b="b" t="t" l="l"/>
              <a:pathLst>
                <a:path h="2677160" w="5146040">
                  <a:moveTo>
                    <a:pt x="0" y="446151"/>
                  </a:moveTo>
                  <a:cubicBezTo>
                    <a:pt x="0" y="199771"/>
                    <a:pt x="199771" y="0"/>
                    <a:pt x="446151" y="0"/>
                  </a:cubicBezTo>
                  <a:lnTo>
                    <a:pt x="4699889" y="0"/>
                  </a:lnTo>
                  <a:cubicBezTo>
                    <a:pt x="4946269" y="0"/>
                    <a:pt x="5146040" y="199771"/>
                    <a:pt x="5146040" y="446151"/>
                  </a:cubicBezTo>
                  <a:lnTo>
                    <a:pt x="5146040" y="2231009"/>
                  </a:lnTo>
                  <a:cubicBezTo>
                    <a:pt x="5146040" y="2477389"/>
                    <a:pt x="4946269" y="2677160"/>
                    <a:pt x="4699889" y="2677160"/>
                  </a:cubicBezTo>
                  <a:lnTo>
                    <a:pt x="446151" y="2677160"/>
                  </a:lnTo>
                  <a:cubicBezTo>
                    <a:pt x="199771" y="2677160"/>
                    <a:pt x="0" y="2477389"/>
                    <a:pt x="0" y="22310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464040" y="2125980"/>
            <a:ext cx="109728" cy="1988820"/>
            <a:chOff x="0" y="0"/>
            <a:chExt cx="146304" cy="2651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304" cy="2651760"/>
            </a:xfrm>
            <a:custGeom>
              <a:avLst/>
              <a:gdLst/>
              <a:ahLst/>
              <a:cxnLst/>
              <a:rect r="r" b="b" t="t" l="l"/>
              <a:pathLst>
                <a:path h="26517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651760"/>
                  </a:lnTo>
                  <a:lnTo>
                    <a:pt x="0" y="2651760"/>
                  </a:lnTo>
                  <a:close/>
                </a:path>
              </a:pathLst>
            </a:custGeom>
            <a:solidFill>
              <a:srgbClr val="279A91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857232" y="2418588"/>
            <a:ext cx="317754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5F6C7D"/>
                </a:solidFill>
                <a:latin typeface="Aptos Bold"/>
                <a:ea typeface="Aptos Bold"/>
                <a:cs typeface="Aptos Bold"/>
                <a:sym typeface="Aptos Bold"/>
              </a:rPr>
              <a:t>OrderDate</a:t>
            </a:r>
          </a:p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Converted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Object → datetime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637895" y="2116455"/>
            <a:ext cx="3585210" cy="2007870"/>
            <a:chOff x="0" y="0"/>
            <a:chExt cx="4780280" cy="26771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80280" cy="2677160"/>
            </a:xfrm>
            <a:custGeom>
              <a:avLst/>
              <a:gdLst/>
              <a:ahLst/>
              <a:cxnLst/>
              <a:rect r="r" b="b" t="t" l="l"/>
              <a:pathLst>
                <a:path h="2677160" w="4780280">
                  <a:moveTo>
                    <a:pt x="0" y="446151"/>
                  </a:moveTo>
                  <a:cubicBezTo>
                    <a:pt x="0" y="199771"/>
                    <a:pt x="199771" y="0"/>
                    <a:pt x="446151" y="0"/>
                  </a:cubicBezTo>
                  <a:lnTo>
                    <a:pt x="4334129" y="0"/>
                  </a:lnTo>
                  <a:cubicBezTo>
                    <a:pt x="4580509" y="0"/>
                    <a:pt x="4780280" y="199771"/>
                    <a:pt x="4780280" y="446151"/>
                  </a:cubicBezTo>
                  <a:lnTo>
                    <a:pt x="4780280" y="2231009"/>
                  </a:lnTo>
                  <a:cubicBezTo>
                    <a:pt x="4780280" y="2477389"/>
                    <a:pt x="4580509" y="2677160"/>
                    <a:pt x="4334129" y="2677160"/>
                  </a:cubicBezTo>
                  <a:lnTo>
                    <a:pt x="446151" y="2677160"/>
                  </a:lnTo>
                  <a:cubicBezTo>
                    <a:pt x="199771" y="2677160"/>
                    <a:pt x="0" y="2477389"/>
                    <a:pt x="0" y="22310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647420" y="2125980"/>
            <a:ext cx="109728" cy="1988820"/>
            <a:chOff x="0" y="0"/>
            <a:chExt cx="146304" cy="26517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" cy="2651760"/>
            </a:xfrm>
            <a:custGeom>
              <a:avLst/>
              <a:gdLst/>
              <a:ahLst/>
              <a:cxnLst/>
              <a:rect r="r" b="b" t="t" l="l"/>
              <a:pathLst>
                <a:path h="26517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651760"/>
                  </a:lnTo>
                  <a:lnTo>
                    <a:pt x="0" y="2651760"/>
                  </a:lnTo>
                  <a:close/>
                </a:path>
              </a:pathLst>
            </a:custGeom>
            <a:solidFill>
              <a:srgbClr val="E6892D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4040612" y="2418588"/>
            <a:ext cx="290322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5F6C7D"/>
                </a:solidFill>
                <a:latin typeface="Aptos Bold"/>
                <a:ea typeface="Aptos Bold"/>
                <a:cs typeface="Aptos Bold"/>
                <a:sym typeface="Aptos Bold"/>
              </a:rPr>
              <a:t>CustomerKey</a:t>
            </a:r>
          </a:p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Created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ID + Name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25880" y="4924425"/>
            <a:ext cx="15453360" cy="299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CustomerID was not fully reliable as a unique customer identifier because the same ID appeared with different customer names.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A CustomerKey combining CustomerID and CustomerName was created for customer-level analysis.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No rows were removed for missing values or duplicates.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413480" y="9686925"/>
            <a:ext cx="914400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2980" y="516255"/>
            <a:ext cx="16276320" cy="92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Analytical Questions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2485776"/>
            <a:ext cx="15179040" cy="446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Which products are ordered the most and the least?</a:t>
            </a:r>
          </a:p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Which category and brand generate the strongest performance?</a:t>
            </a:r>
          </a:p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Which countries and states have the most orders?</a:t>
            </a:r>
          </a:p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How many customers repeat their purchases?</a:t>
            </a:r>
          </a:p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How are orders distributed across years?</a:t>
            </a:r>
          </a:p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How do seller order volumes compare?</a:t>
            </a:r>
          </a:p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Is order value related to quantity or shipping cost?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413480" y="9686925"/>
            <a:ext cx="914400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278130"/>
            <a:ext cx="1627632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Finding 1 — Product &amp; Category Performance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171" y="1078230"/>
            <a:ext cx="8229600" cy="8180070"/>
            <a:chOff x="0" y="0"/>
            <a:chExt cx="10972800" cy="10906760"/>
          </a:xfrm>
        </p:grpSpPr>
        <p:sp>
          <p:nvSpPr>
            <p:cNvPr name="Freeform 6" id="6" descr="cell112_0.png"/>
            <p:cNvSpPr/>
            <p:nvPr/>
          </p:nvSpPr>
          <p:spPr>
            <a:xfrm flipH="false" flipV="false" rot="0">
              <a:off x="0" y="0"/>
              <a:ext cx="10972800" cy="10906760"/>
            </a:xfrm>
            <a:custGeom>
              <a:avLst/>
              <a:gdLst/>
              <a:ahLst/>
              <a:cxnLst/>
              <a:rect r="r" b="b" t="t" l="l"/>
              <a:pathLst>
                <a:path h="109067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906760"/>
                  </a:lnTo>
                  <a:lnTo>
                    <a:pt x="0" y="10906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02" r="0" b="-30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395460" y="1325880"/>
            <a:ext cx="8023860" cy="7932420"/>
            <a:chOff x="0" y="0"/>
            <a:chExt cx="10698480" cy="10576560"/>
          </a:xfrm>
        </p:grpSpPr>
        <p:sp>
          <p:nvSpPr>
            <p:cNvPr name="Freeform 8" id="8" descr="cell113_0.png"/>
            <p:cNvSpPr/>
            <p:nvPr/>
          </p:nvSpPr>
          <p:spPr>
            <a:xfrm flipH="false" flipV="false" rot="0">
              <a:off x="0" y="0"/>
              <a:ext cx="10698480" cy="10576560"/>
            </a:xfrm>
            <a:custGeom>
              <a:avLst/>
              <a:gdLst/>
              <a:ahLst/>
              <a:cxnLst/>
              <a:rect r="r" b="b" t="t" l="l"/>
              <a:pathLst>
                <a:path h="10576560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10576560"/>
                  </a:lnTo>
                  <a:lnTo>
                    <a:pt x="0" y="10576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76" r="0" b="-576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77253" y="9258300"/>
            <a:ext cx="15536227" cy="920115"/>
            <a:chOff x="0" y="0"/>
            <a:chExt cx="20714970" cy="12268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14970" cy="1226820"/>
            </a:xfrm>
            <a:custGeom>
              <a:avLst/>
              <a:gdLst/>
              <a:ahLst/>
              <a:cxnLst/>
              <a:rect r="r" b="b" t="t" l="l"/>
              <a:pathLst>
                <a:path h="1226820" w="20714970">
                  <a:moveTo>
                    <a:pt x="0" y="204470"/>
                  </a:moveTo>
                  <a:cubicBezTo>
                    <a:pt x="0" y="91567"/>
                    <a:pt x="86282" y="0"/>
                    <a:pt x="192670" y="0"/>
                  </a:cubicBezTo>
                  <a:lnTo>
                    <a:pt x="20522301" y="0"/>
                  </a:lnTo>
                  <a:cubicBezTo>
                    <a:pt x="20628688" y="0"/>
                    <a:pt x="20714970" y="91567"/>
                    <a:pt x="20714970" y="204470"/>
                  </a:cubicBezTo>
                  <a:lnTo>
                    <a:pt x="20714970" y="1022350"/>
                  </a:lnTo>
                  <a:cubicBezTo>
                    <a:pt x="20714970" y="1135253"/>
                    <a:pt x="20628688" y="1226820"/>
                    <a:pt x="20522301" y="1226820"/>
                  </a:cubicBezTo>
                  <a:lnTo>
                    <a:pt x="192670" y="1226820"/>
                  </a:lnTo>
                  <a:cubicBezTo>
                    <a:pt x="86282" y="1226820"/>
                    <a:pt x="0" y="1135253"/>
                    <a:pt x="0" y="102235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279A91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325880" y="9510331"/>
            <a:ext cx="1559052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232A34"/>
                </a:solidFill>
                <a:latin typeface="Aptos Bold"/>
                <a:ea typeface="Aptos Bold"/>
                <a:cs typeface="Aptos Bold"/>
                <a:sym typeface="Aptos Bold"/>
              </a:rPr>
              <a:t>Insight: LED Desk Lamp is the most ordered product (6,344 units). Electronics leads by order volume (16,853).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13480" y="9686925"/>
            <a:ext cx="914400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1540" y="278130"/>
            <a:ext cx="16276320" cy="6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Finding 2 — Brand &amp; Seller Performance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171" y="1078230"/>
            <a:ext cx="8229600" cy="8180070"/>
            <a:chOff x="0" y="0"/>
            <a:chExt cx="10972800" cy="10906760"/>
          </a:xfrm>
        </p:grpSpPr>
        <p:sp>
          <p:nvSpPr>
            <p:cNvPr name="Freeform 6" id="6" descr="cell112_0.png"/>
            <p:cNvSpPr/>
            <p:nvPr/>
          </p:nvSpPr>
          <p:spPr>
            <a:xfrm flipH="false" flipV="false" rot="0">
              <a:off x="0" y="0"/>
              <a:ext cx="10972800" cy="10906760"/>
            </a:xfrm>
            <a:custGeom>
              <a:avLst/>
              <a:gdLst/>
              <a:ahLst/>
              <a:cxnLst/>
              <a:rect r="r" b="b" t="t" l="l"/>
              <a:pathLst>
                <a:path h="109067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906760"/>
                  </a:lnTo>
                  <a:lnTo>
                    <a:pt x="0" y="10906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7296" t="0" r="-47296" b="2370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77253" y="9258300"/>
            <a:ext cx="15536227" cy="920115"/>
            <a:chOff x="0" y="0"/>
            <a:chExt cx="20714970" cy="12268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14970" cy="1226820"/>
            </a:xfrm>
            <a:custGeom>
              <a:avLst/>
              <a:gdLst/>
              <a:ahLst/>
              <a:cxnLst/>
              <a:rect r="r" b="b" t="t" l="l"/>
              <a:pathLst>
                <a:path h="1226820" w="20714970">
                  <a:moveTo>
                    <a:pt x="0" y="204470"/>
                  </a:moveTo>
                  <a:cubicBezTo>
                    <a:pt x="0" y="91567"/>
                    <a:pt x="86282" y="0"/>
                    <a:pt x="192670" y="0"/>
                  </a:cubicBezTo>
                  <a:lnTo>
                    <a:pt x="20522301" y="0"/>
                  </a:lnTo>
                  <a:cubicBezTo>
                    <a:pt x="20628688" y="0"/>
                    <a:pt x="20714970" y="91567"/>
                    <a:pt x="20714970" y="204470"/>
                  </a:cubicBezTo>
                  <a:lnTo>
                    <a:pt x="20714970" y="1022350"/>
                  </a:lnTo>
                  <a:cubicBezTo>
                    <a:pt x="20714970" y="1135253"/>
                    <a:pt x="20628688" y="1226820"/>
                    <a:pt x="20522301" y="1226820"/>
                  </a:cubicBezTo>
                  <a:lnTo>
                    <a:pt x="192670" y="1226820"/>
                  </a:lnTo>
                  <a:cubicBezTo>
                    <a:pt x="86282" y="1226820"/>
                    <a:pt x="0" y="1135253"/>
                    <a:pt x="0" y="102235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279A91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325880" y="9510331"/>
            <a:ext cx="15590520" cy="2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232A34"/>
                </a:solidFill>
                <a:latin typeface="Aptos Bold"/>
                <a:ea typeface="Aptos Bold"/>
                <a:cs typeface="Aptos Bold"/>
                <a:sym typeface="Aptos Bold"/>
              </a:rPr>
              <a:t>Insight: CoreTech has the highest brand sales (~8.57M). Top sellers handle about 78 orders.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13480" y="9686925"/>
            <a:ext cx="914400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77252" y="1078230"/>
            <a:ext cx="8312468" cy="8180070"/>
            <a:chOff x="0" y="0"/>
            <a:chExt cx="11083290" cy="10906760"/>
          </a:xfrm>
        </p:grpSpPr>
        <p:sp>
          <p:nvSpPr>
            <p:cNvPr name="Freeform 12" id="12" descr="cell114_0.png"/>
            <p:cNvSpPr/>
            <p:nvPr/>
          </p:nvSpPr>
          <p:spPr>
            <a:xfrm flipH="false" flipV="false" rot="0">
              <a:off x="0" y="0"/>
              <a:ext cx="11083290" cy="10906760"/>
            </a:xfrm>
            <a:custGeom>
              <a:avLst/>
              <a:gdLst/>
              <a:ahLst/>
              <a:cxnLst/>
              <a:rect r="r" b="b" t="t" l="l"/>
              <a:pathLst>
                <a:path h="10906760" w="11083290">
                  <a:moveTo>
                    <a:pt x="0" y="0"/>
                  </a:moveTo>
                  <a:lnTo>
                    <a:pt x="11083290" y="0"/>
                  </a:lnTo>
                  <a:lnTo>
                    <a:pt x="11083290" y="10906760"/>
                  </a:lnTo>
                  <a:lnTo>
                    <a:pt x="0" y="10906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09" r="0" b="-80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395460" y="1230111"/>
            <a:ext cx="8023860" cy="7966465"/>
            <a:chOff x="0" y="0"/>
            <a:chExt cx="10652760" cy="10576560"/>
          </a:xfrm>
        </p:grpSpPr>
        <p:sp>
          <p:nvSpPr>
            <p:cNvPr name="Freeform 14" id="14" descr="cell115_0.png"/>
            <p:cNvSpPr/>
            <p:nvPr/>
          </p:nvSpPr>
          <p:spPr>
            <a:xfrm flipH="false" flipV="false" rot="0">
              <a:off x="0" y="0"/>
              <a:ext cx="10652760" cy="10576560"/>
            </a:xfrm>
            <a:custGeom>
              <a:avLst/>
              <a:gdLst/>
              <a:ahLst/>
              <a:cxnLst/>
              <a:rect r="r" b="b" t="t" l="l"/>
              <a:pathLst>
                <a:path h="10576560" w="10652760">
                  <a:moveTo>
                    <a:pt x="0" y="0"/>
                  </a:moveTo>
                  <a:lnTo>
                    <a:pt x="10652760" y="0"/>
                  </a:lnTo>
                  <a:lnTo>
                    <a:pt x="10652760" y="10576560"/>
                  </a:lnTo>
                  <a:lnTo>
                    <a:pt x="0" y="10576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09" r="0" b="-309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2980" y="525780"/>
            <a:ext cx="1627632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Finding 3 — Customer Behavior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60120" y="1325880"/>
            <a:ext cx="9601200" cy="7694295"/>
            <a:chOff x="0" y="0"/>
            <a:chExt cx="12801600" cy="10259060"/>
          </a:xfrm>
        </p:grpSpPr>
        <p:sp>
          <p:nvSpPr>
            <p:cNvPr name="Freeform 6" id="6" descr="cell124_0.png"/>
            <p:cNvSpPr/>
            <p:nvPr/>
          </p:nvSpPr>
          <p:spPr>
            <a:xfrm flipH="false" flipV="false" rot="0">
              <a:off x="0" y="0"/>
              <a:ext cx="12801600" cy="10259060"/>
            </a:xfrm>
            <a:custGeom>
              <a:avLst/>
              <a:gdLst/>
              <a:ahLst/>
              <a:cxnLst/>
              <a:rect r="r" b="b" t="t" l="l"/>
              <a:pathLst>
                <a:path h="1025906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0259060"/>
                  </a:lnTo>
                  <a:lnTo>
                    <a:pt x="0" y="10259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2" t="0" r="-162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031855" y="2116455"/>
            <a:ext cx="5848350" cy="1733550"/>
            <a:chOff x="0" y="0"/>
            <a:chExt cx="7797800" cy="2311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97800" cy="2311400"/>
            </a:xfrm>
            <a:custGeom>
              <a:avLst/>
              <a:gdLst/>
              <a:ahLst/>
              <a:cxnLst/>
              <a:rect r="r" b="b" t="t" l="l"/>
              <a:pathLst>
                <a:path h="2311400" w="7797800">
                  <a:moveTo>
                    <a:pt x="0" y="385191"/>
                  </a:moveTo>
                  <a:cubicBezTo>
                    <a:pt x="0" y="172466"/>
                    <a:pt x="172466" y="0"/>
                    <a:pt x="385191" y="0"/>
                  </a:cubicBezTo>
                  <a:lnTo>
                    <a:pt x="7412609" y="0"/>
                  </a:lnTo>
                  <a:cubicBezTo>
                    <a:pt x="7625334" y="0"/>
                    <a:pt x="7797800" y="172466"/>
                    <a:pt x="7797800" y="385191"/>
                  </a:cubicBezTo>
                  <a:lnTo>
                    <a:pt x="7797800" y="1926209"/>
                  </a:lnTo>
                  <a:cubicBezTo>
                    <a:pt x="7797800" y="2138934"/>
                    <a:pt x="7625334" y="2311400"/>
                    <a:pt x="7412609" y="2311400"/>
                  </a:cubicBezTo>
                  <a:lnTo>
                    <a:pt x="385191" y="2311400"/>
                  </a:lnTo>
                  <a:cubicBezTo>
                    <a:pt x="172466" y="2311400"/>
                    <a:pt x="0" y="2138934"/>
                    <a:pt x="0" y="19262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041380" y="2125980"/>
            <a:ext cx="109728" cy="1714500"/>
            <a:chOff x="0" y="0"/>
            <a:chExt cx="146304" cy="228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315E9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434572" y="2418588"/>
            <a:ext cx="516636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5F6C7D"/>
                </a:solidFill>
                <a:latin typeface="Aptos Bold"/>
                <a:ea typeface="Aptos Bold"/>
                <a:cs typeface="Aptos Bold"/>
                <a:sym typeface="Aptos Bold"/>
              </a:rPr>
              <a:t>CustomerKey</a:t>
            </a:r>
          </a:p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99,500</a:t>
            </a:r>
          </a:p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Used for customer-level analysis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031855" y="4105275"/>
            <a:ext cx="5848350" cy="1733550"/>
            <a:chOff x="0" y="0"/>
            <a:chExt cx="7797800" cy="2311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97800" cy="2311400"/>
            </a:xfrm>
            <a:custGeom>
              <a:avLst/>
              <a:gdLst/>
              <a:ahLst/>
              <a:cxnLst/>
              <a:rect r="r" b="b" t="t" l="l"/>
              <a:pathLst>
                <a:path h="2311400" w="7797800">
                  <a:moveTo>
                    <a:pt x="0" y="385191"/>
                  </a:moveTo>
                  <a:cubicBezTo>
                    <a:pt x="0" y="172466"/>
                    <a:pt x="172466" y="0"/>
                    <a:pt x="385191" y="0"/>
                  </a:cubicBezTo>
                  <a:lnTo>
                    <a:pt x="7412609" y="0"/>
                  </a:lnTo>
                  <a:cubicBezTo>
                    <a:pt x="7625334" y="0"/>
                    <a:pt x="7797800" y="172466"/>
                    <a:pt x="7797800" y="385191"/>
                  </a:cubicBezTo>
                  <a:lnTo>
                    <a:pt x="7797800" y="1926209"/>
                  </a:lnTo>
                  <a:cubicBezTo>
                    <a:pt x="7797800" y="2138934"/>
                    <a:pt x="7625334" y="2311400"/>
                    <a:pt x="7412609" y="2311400"/>
                  </a:cubicBezTo>
                  <a:lnTo>
                    <a:pt x="385191" y="2311400"/>
                  </a:lnTo>
                  <a:cubicBezTo>
                    <a:pt x="172466" y="2311400"/>
                    <a:pt x="0" y="2138934"/>
                    <a:pt x="0" y="19262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041380" y="4114800"/>
            <a:ext cx="109728" cy="1714500"/>
            <a:chOff x="0" y="0"/>
            <a:chExt cx="146304" cy="228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279A91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434572" y="4407408"/>
            <a:ext cx="516636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5F6C7D"/>
                </a:solidFill>
                <a:latin typeface="Aptos Bold"/>
                <a:ea typeface="Aptos Bold"/>
                <a:cs typeface="Aptos Bold"/>
                <a:sym typeface="Aptos Bold"/>
              </a:rPr>
              <a:t>1 Order</a:t>
            </a:r>
          </a:p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99,003 customers</a:t>
            </a:r>
          </a:p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Most customers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031855" y="6094095"/>
            <a:ext cx="5848350" cy="1733550"/>
            <a:chOff x="0" y="0"/>
            <a:chExt cx="7797800" cy="2311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797800" cy="2311400"/>
            </a:xfrm>
            <a:custGeom>
              <a:avLst/>
              <a:gdLst/>
              <a:ahLst/>
              <a:cxnLst/>
              <a:rect r="r" b="b" t="t" l="l"/>
              <a:pathLst>
                <a:path h="2311400" w="7797800">
                  <a:moveTo>
                    <a:pt x="0" y="385191"/>
                  </a:moveTo>
                  <a:cubicBezTo>
                    <a:pt x="0" y="172466"/>
                    <a:pt x="172466" y="0"/>
                    <a:pt x="385191" y="0"/>
                  </a:cubicBezTo>
                  <a:lnTo>
                    <a:pt x="7412609" y="0"/>
                  </a:lnTo>
                  <a:cubicBezTo>
                    <a:pt x="7625334" y="0"/>
                    <a:pt x="7797800" y="172466"/>
                    <a:pt x="7797800" y="385191"/>
                  </a:cubicBezTo>
                  <a:lnTo>
                    <a:pt x="7797800" y="1926209"/>
                  </a:lnTo>
                  <a:cubicBezTo>
                    <a:pt x="7797800" y="2138934"/>
                    <a:pt x="7625334" y="2311400"/>
                    <a:pt x="7412609" y="2311400"/>
                  </a:cubicBezTo>
                  <a:lnTo>
                    <a:pt x="385191" y="2311400"/>
                  </a:lnTo>
                  <a:cubicBezTo>
                    <a:pt x="172466" y="2311400"/>
                    <a:pt x="0" y="2138934"/>
                    <a:pt x="0" y="19262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041380" y="6103620"/>
            <a:ext cx="109728" cy="1714500"/>
            <a:chOff x="0" y="0"/>
            <a:chExt cx="146304" cy="2286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04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E6892D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434572" y="6396228"/>
            <a:ext cx="516636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5F6C7D"/>
                </a:solidFill>
                <a:latin typeface="Aptos Bold"/>
                <a:ea typeface="Aptos Bold"/>
                <a:cs typeface="Aptos Bold"/>
                <a:sym typeface="Aptos Bold"/>
              </a:rPr>
              <a:t>2 Orders</a:t>
            </a:r>
          </a:p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494 customers</a:t>
            </a:r>
          </a:p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Repeat customers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41058" y="9046845"/>
            <a:ext cx="13312011" cy="920115"/>
            <a:chOff x="0" y="0"/>
            <a:chExt cx="17749348" cy="12268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749349" cy="1226820"/>
            </a:xfrm>
            <a:custGeom>
              <a:avLst/>
              <a:gdLst/>
              <a:ahLst/>
              <a:cxnLst/>
              <a:rect r="r" b="b" t="t" l="l"/>
              <a:pathLst>
                <a:path h="1226820" w="17749349">
                  <a:moveTo>
                    <a:pt x="0" y="204470"/>
                  </a:moveTo>
                  <a:cubicBezTo>
                    <a:pt x="0" y="91567"/>
                    <a:pt x="73930" y="0"/>
                    <a:pt x="165086" y="0"/>
                  </a:cubicBezTo>
                  <a:lnTo>
                    <a:pt x="17584262" y="0"/>
                  </a:lnTo>
                  <a:cubicBezTo>
                    <a:pt x="17675419" y="0"/>
                    <a:pt x="17749349" y="91567"/>
                    <a:pt x="17749349" y="204470"/>
                  </a:cubicBezTo>
                  <a:lnTo>
                    <a:pt x="17749349" y="1022350"/>
                  </a:lnTo>
                  <a:cubicBezTo>
                    <a:pt x="17749349" y="1135253"/>
                    <a:pt x="17675419" y="1226820"/>
                    <a:pt x="17584262" y="1226820"/>
                  </a:cubicBezTo>
                  <a:lnTo>
                    <a:pt x="165086" y="1226820"/>
                  </a:lnTo>
                  <a:cubicBezTo>
                    <a:pt x="73930" y="1226820"/>
                    <a:pt x="0" y="1135253"/>
                    <a:pt x="0" y="102235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279A91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325880" y="9272206"/>
            <a:ext cx="1559052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232A34"/>
                </a:solidFill>
                <a:latin typeface="Aptos Bold"/>
                <a:ea typeface="Aptos Bold"/>
                <a:cs typeface="Aptos Bold"/>
                <a:sym typeface="Aptos Bold"/>
              </a:rPr>
              <a:t>Insight: Most customers made only 1 order, so retention is a clear growth opportunity.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413480" y="9686925"/>
            <a:ext cx="914400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2980" y="525780"/>
            <a:ext cx="1627632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Finding 4 — Geographic &amp; Time Trends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77253" y="1973537"/>
            <a:ext cx="7044374" cy="5799859"/>
            <a:chOff x="0" y="0"/>
            <a:chExt cx="9392498" cy="7733145"/>
          </a:xfrm>
        </p:grpSpPr>
        <p:sp>
          <p:nvSpPr>
            <p:cNvPr name="Freeform 6" id="6" descr="cell125_0.png"/>
            <p:cNvSpPr/>
            <p:nvPr/>
          </p:nvSpPr>
          <p:spPr>
            <a:xfrm flipH="false" flipV="false" rot="0">
              <a:off x="0" y="0"/>
              <a:ext cx="9392498" cy="7733145"/>
            </a:xfrm>
            <a:custGeom>
              <a:avLst/>
              <a:gdLst/>
              <a:ahLst/>
              <a:cxnLst/>
              <a:rect r="r" b="b" t="t" l="l"/>
              <a:pathLst>
                <a:path h="7733145" w="9392498">
                  <a:moveTo>
                    <a:pt x="0" y="0"/>
                  </a:moveTo>
                  <a:lnTo>
                    <a:pt x="9392498" y="0"/>
                  </a:lnTo>
                  <a:lnTo>
                    <a:pt x="9392498" y="7733145"/>
                  </a:lnTo>
                  <a:lnTo>
                    <a:pt x="0" y="7733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913" r="0" b="-1091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09163" y="2232574"/>
            <a:ext cx="8855865" cy="5281785"/>
            <a:chOff x="0" y="0"/>
            <a:chExt cx="14718304" cy="8778240"/>
          </a:xfrm>
        </p:grpSpPr>
        <p:sp>
          <p:nvSpPr>
            <p:cNvPr name="Freeform 8" id="8" descr="cell111_0.png"/>
            <p:cNvSpPr/>
            <p:nvPr/>
          </p:nvSpPr>
          <p:spPr>
            <a:xfrm flipH="false" flipV="false" rot="0">
              <a:off x="0" y="0"/>
              <a:ext cx="14718303" cy="8778240"/>
            </a:xfrm>
            <a:custGeom>
              <a:avLst/>
              <a:gdLst/>
              <a:ahLst/>
              <a:cxnLst/>
              <a:rect r="r" b="b" t="t" l="l"/>
              <a:pathLst>
                <a:path h="8778240" w="14718303">
                  <a:moveTo>
                    <a:pt x="0" y="0"/>
                  </a:moveTo>
                  <a:lnTo>
                    <a:pt x="14718303" y="0"/>
                  </a:lnTo>
                  <a:lnTo>
                    <a:pt x="14718303" y="8778240"/>
                  </a:lnTo>
                  <a:lnTo>
                    <a:pt x="0" y="8778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" r="0" b="-1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77252" y="8421052"/>
            <a:ext cx="16487775" cy="920115"/>
            <a:chOff x="0" y="0"/>
            <a:chExt cx="21983700" cy="12268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83700" cy="1226820"/>
            </a:xfrm>
            <a:custGeom>
              <a:avLst/>
              <a:gdLst/>
              <a:ahLst/>
              <a:cxnLst/>
              <a:rect r="r" b="b" t="t" l="l"/>
              <a:pathLst>
                <a:path h="1226820" w="21983700">
                  <a:moveTo>
                    <a:pt x="0" y="204470"/>
                  </a:moveTo>
                  <a:cubicBezTo>
                    <a:pt x="0" y="91567"/>
                    <a:pt x="91567" y="0"/>
                    <a:pt x="204470" y="0"/>
                  </a:cubicBezTo>
                  <a:lnTo>
                    <a:pt x="21779230" y="0"/>
                  </a:lnTo>
                  <a:cubicBezTo>
                    <a:pt x="21892133" y="0"/>
                    <a:pt x="21983700" y="91567"/>
                    <a:pt x="21983700" y="204470"/>
                  </a:cubicBezTo>
                  <a:lnTo>
                    <a:pt x="21983700" y="1022350"/>
                  </a:lnTo>
                  <a:cubicBezTo>
                    <a:pt x="21983700" y="1135253"/>
                    <a:pt x="21892133" y="1226820"/>
                    <a:pt x="21779230" y="1226820"/>
                  </a:cubicBezTo>
                  <a:lnTo>
                    <a:pt x="204470" y="1226820"/>
                  </a:lnTo>
                  <a:cubicBezTo>
                    <a:pt x="91567" y="1226820"/>
                    <a:pt x="0" y="1135253"/>
                    <a:pt x="0" y="102235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15E91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325880" y="8673084"/>
            <a:ext cx="15590520" cy="27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0"/>
              </a:lnSpc>
            </a:pPr>
            <a:r>
              <a:rPr lang="en-US" sz="1850" b="true">
                <a:solidFill>
                  <a:srgbClr val="232A34"/>
                </a:solidFill>
                <a:latin typeface="Aptos Bold"/>
                <a:ea typeface="Aptos Bold"/>
                <a:cs typeface="Aptos Bold"/>
                <a:sym typeface="Aptos Bold"/>
              </a:rPr>
              <a:t>Insight: The US leads with 70,058 orders; Texas leads states with 24,896. 2023 has the highest yearly order volume (20,096).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13480" y="9686925"/>
            <a:ext cx="914400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2980" y="299085"/>
            <a:ext cx="1627632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Finding 5 — Order Value &amp; Shipping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1540" y="1028700"/>
            <a:ext cx="8092440" cy="8018145"/>
            <a:chOff x="0" y="0"/>
            <a:chExt cx="10789920" cy="10690860"/>
          </a:xfrm>
        </p:grpSpPr>
        <p:sp>
          <p:nvSpPr>
            <p:cNvPr name="Freeform 6" id="6" descr="cell122_0.png"/>
            <p:cNvSpPr/>
            <p:nvPr/>
          </p:nvSpPr>
          <p:spPr>
            <a:xfrm flipH="false" flipV="false" rot="0">
              <a:off x="0" y="0"/>
              <a:ext cx="10789920" cy="10690860"/>
            </a:xfrm>
            <a:custGeom>
              <a:avLst/>
              <a:gdLst/>
              <a:ahLst/>
              <a:cxnLst/>
              <a:rect r="r" b="b" t="t" l="l"/>
              <a:pathLst>
                <a:path h="1069086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0690860"/>
                  </a:lnTo>
                  <a:lnTo>
                    <a:pt x="0" y="10690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63" r="0" b="-46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58300" y="1851660"/>
            <a:ext cx="8161020" cy="6446520"/>
            <a:chOff x="0" y="0"/>
            <a:chExt cx="10881360" cy="8595360"/>
          </a:xfrm>
        </p:grpSpPr>
        <p:sp>
          <p:nvSpPr>
            <p:cNvPr name="Freeform 8" id="8" descr="cell123_0.png"/>
            <p:cNvSpPr/>
            <p:nvPr/>
          </p:nvSpPr>
          <p:spPr>
            <a:xfrm flipH="false" flipV="false" rot="0">
              <a:off x="0" y="0"/>
              <a:ext cx="10881360" cy="8595360"/>
            </a:xfrm>
            <a:custGeom>
              <a:avLst/>
              <a:gdLst/>
              <a:ahLst/>
              <a:cxnLst/>
              <a:rect r="r" b="b" t="t" l="l"/>
              <a:pathLst>
                <a:path h="8595360" w="10881360">
                  <a:moveTo>
                    <a:pt x="0" y="0"/>
                  </a:moveTo>
                  <a:lnTo>
                    <a:pt x="10881360" y="0"/>
                  </a:lnTo>
                  <a:lnTo>
                    <a:pt x="10881360" y="8595360"/>
                  </a:lnTo>
                  <a:lnTo>
                    <a:pt x="0" y="859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61" r="0" b="-56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26441" y="9046845"/>
            <a:ext cx="16487775" cy="920115"/>
            <a:chOff x="0" y="0"/>
            <a:chExt cx="21983700" cy="12268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83700" cy="1226820"/>
            </a:xfrm>
            <a:custGeom>
              <a:avLst/>
              <a:gdLst/>
              <a:ahLst/>
              <a:cxnLst/>
              <a:rect r="r" b="b" t="t" l="l"/>
              <a:pathLst>
                <a:path h="1226820" w="21983700">
                  <a:moveTo>
                    <a:pt x="0" y="204470"/>
                  </a:moveTo>
                  <a:cubicBezTo>
                    <a:pt x="0" y="91567"/>
                    <a:pt x="91567" y="0"/>
                    <a:pt x="204470" y="0"/>
                  </a:cubicBezTo>
                  <a:lnTo>
                    <a:pt x="21779230" y="0"/>
                  </a:lnTo>
                  <a:cubicBezTo>
                    <a:pt x="21892133" y="0"/>
                    <a:pt x="21983700" y="91567"/>
                    <a:pt x="21983700" y="204470"/>
                  </a:cubicBezTo>
                  <a:lnTo>
                    <a:pt x="21983700" y="1022350"/>
                  </a:lnTo>
                  <a:cubicBezTo>
                    <a:pt x="21983700" y="1135253"/>
                    <a:pt x="21892133" y="1226820"/>
                    <a:pt x="21779230" y="1226820"/>
                  </a:cubicBezTo>
                  <a:lnTo>
                    <a:pt x="204470" y="1226820"/>
                  </a:lnTo>
                  <a:cubicBezTo>
                    <a:pt x="91567" y="1226820"/>
                    <a:pt x="0" y="1135253"/>
                    <a:pt x="0" y="102235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E6892D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75069" y="9298876"/>
            <a:ext cx="1559052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232A34"/>
                </a:solidFill>
                <a:latin typeface="Aptos Bold"/>
                <a:ea typeface="Aptos Bold"/>
                <a:cs typeface="Aptos Bold"/>
                <a:sym typeface="Aptos Bold"/>
              </a:rPr>
              <a:t>Insight: Average order value is ~918 versus a median of ~714; order values are strongly concentrated at the lower end.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13480" y="9686925"/>
            <a:ext cx="914400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2980" y="525780"/>
            <a:ext cx="1627632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Key Insights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0412" y="1399413"/>
            <a:ext cx="16002000" cy="4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Best and weakest performers from the analysis.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2976" y="1913096"/>
            <a:ext cx="8106728" cy="4144929"/>
            <a:chOff x="0" y="0"/>
            <a:chExt cx="10808970" cy="55265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08970" cy="5526572"/>
            </a:xfrm>
            <a:custGeom>
              <a:avLst/>
              <a:gdLst/>
              <a:ahLst/>
              <a:cxnLst/>
              <a:rect r="r" b="b" t="t" l="l"/>
              <a:pathLst>
                <a:path h="5526572" w="10808970">
                  <a:moveTo>
                    <a:pt x="0" y="921095"/>
                  </a:moveTo>
                  <a:cubicBezTo>
                    <a:pt x="0" y="412385"/>
                    <a:pt x="676910" y="0"/>
                    <a:pt x="1511935" y="0"/>
                  </a:cubicBezTo>
                  <a:lnTo>
                    <a:pt x="9297035" y="0"/>
                  </a:lnTo>
                  <a:cubicBezTo>
                    <a:pt x="10132060" y="0"/>
                    <a:pt x="10808970" y="412385"/>
                    <a:pt x="10808970" y="921095"/>
                  </a:cubicBezTo>
                  <a:lnTo>
                    <a:pt x="10808970" y="4605476"/>
                  </a:lnTo>
                  <a:cubicBezTo>
                    <a:pt x="10808970" y="5114187"/>
                    <a:pt x="10132060" y="5526572"/>
                    <a:pt x="9297035" y="5526572"/>
                  </a:cubicBezTo>
                  <a:lnTo>
                    <a:pt x="1511935" y="5526572"/>
                  </a:lnTo>
                  <a:cubicBezTo>
                    <a:pt x="676910" y="5526571"/>
                    <a:pt x="0" y="5114187"/>
                    <a:pt x="0" y="4605476"/>
                  </a:cubicBezTo>
                  <a:close/>
                </a:path>
              </a:pathLst>
            </a:custGeom>
            <a:solidFill>
              <a:srgbClr val="ECF8F2"/>
            </a:solidFill>
            <a:ln w="14288" cap="sq">
              <a:solidFill>
                <a:srgbClr val="B9DCC8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2377440"/>
            <a:ext cx="7086600" cy="2981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BEST PERFORMERS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Best Product: LED Desk Lamp — 6,344 units.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Best Category: Electronics — 16,853 orders.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Best Brand: CoreTech — ~8.57M sales.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Best Market: United States — 70,058 orders.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Best State: Texas — 24,896 orders.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Highest Year: 2023 — 20,096 orders.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601967" y="1913096"/>
            <a:ext cx="8106728" cy="4144929"/>
            <a:chOff x="0" y="0"/>
            <a:chExt cx="10808970" cy="55265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08970" cy="5526572"/>
            </a:xfrm>
            <a:custGeom>
              <a:avLst/>
              <a:gdLst/>
              <a:ahLst/>
              <a:cxnLst/>
              <a:rect r="r" b="b" t="t" l="l"/>
              <a:pathLst>
                <a:path h="5526572" w="10808970">
                  <a:moveTo>
                    <a:pt x="0" y="921095"/>
                  </a:moveTo>
                  <a:cubicBezTo>
                    <a:pt x="0" y="412385"/>
                    <a:pt x="676910" y="0"/>
                    <a:pt x="1511935" y="0"/>
                  </a:cubicBezTo>
                  <a:lnTo>
                    <a:pt x="9297035" y="0"/>
                  </a:lnTo>
                  <a:cubicBezTo>
                    <a:pt x="10132060" y="0"/>
                    <a:pt x="10808970" y="412385"/>
                    <a:pt x="10808970" y="921095"/>
                  </a:cubicBezTo>
                  <a:lnTo>
                    <a:pt x="10808970" y="4605476"/>
                  </a:lnTo>
                  <a:cubicBezTo>
                    <a:pt x="10808970" y="5114187"/>
                    <a:pt x="10132060" y="5526572"/>
                    <a:pt x="9297035" y="5526572"/>
                  </a:cubicBezTo>
                  <a:lnTo>
                    <a:pt x="1511935" y="5526572"/>
                  </a:lnTo>
                  <a:cubicBezTo>
                    <a:pt x="676910" y="5526571"/>
                    <a:pt x="0" y="5114187"/>
                    <a:pt x="0" y="4605476"/>
                  </a:cubicBezTo>
                  <a:close/>
                </a:path>
              </a:pathLst>
            </a:custGeom>
            <a:solidFill>
              <a:srgbClr val="FCF1F1"/>
            </a:solidFill>
            <a:ln w="14288" cap="sq">
              <a:solidFill>
                <a:srgbClr val="E6C3C3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0112031" y="2377440"/>
            <a:ext cx="7086600" cy="312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AREAS TO IMPROVE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Lowest Product: Children's Book — 5,619 units.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Lowest Category: Clothing — 16,439 orders.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Lowest Brand: HomeEase — ~8.30M sales.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Lowest Market: Australia — 4,130 orders.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Lowest State: Arizona — 4,941 orders.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2A34"/>
                </a:solidFill>
                <a:latin typeface="Aptos"/>
                <a:ea typeface="Aptos"/>
                <a:cs typeface="Aptos"/>
                <a:sym typeface="Aptos"/>
              </a:rPr>
              <a:t>• Customer behavior: 99,003 customers made only 1 order.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13480" y="9686925"/>
            <a:ext cx="914400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2980" y="525780"/>
            <a:ext cx="1627632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Recommendations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0472" y="1210603"/>
            <a:ext cx="16002000" cy="45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What an owner or seller can do next.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87755" y="1842135"/>
            <a:ext cx="1390650" cy="1088898"/>
            <a:chOff x="0" y="0"/>
            <a:chExt cx="1854200" cy="14518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54200" cy="1451864"/>
            </a:xfrm>
            <a:custGeom>
              <a:avLst/>
              <a:gdLst/>
              <a:ahLst/>
              <a:cxnLst/>
              <a:rect r="r" b="b" t="t" l="l"/>
              <a:pathLst>
                <a:path h="1451864" w="1854200">
                  <a:moveTo>
                    <a:pt x="0" y="241935"/>
                  </a:moveTo>
                  <a:cubicBezTo>
                    <a:pt x="0" y="108331"/>
                    <a:pt x="108331" y="0"/>
                    <a:pt x="241935" y="0"/>
                  </a:cubicBezTo>
                  <a:lnTo>
                    <a:pt x="1612265" y="0"/>
                  </a:lnTo>
                  <a:cubicBezTo>
                    <a:pt x="1745869" y="0"/>
                    <a:pt x="1854200" y="108331"/>
                    <a:pt x="1854200" y="241935"/>
                  </a:cubicBezTo>
                  <a:lnTo>
                    <a:pt x="1854200" y="1209929"/>
                  </a:lnTo>
                  <a:cubicBezTo>
                    <a:pt x="1854200" y="1343533"/>
                    <a:pt x="1745869" y="1451864"/>
                    <a:pt x="1612265" y="1451864"/>
                  </a:cubicBezTo>
                  <a:lnTo>
                    <a:pt x="241935" y="1451864"/>
                  </a:lnTo>
                  <a:cubicBezTo>
                    <a:pt x="108331" y="1451864"/>
                    <a:pt x="0" y="1343533"/>
                    <a:pt x="0" y="120992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" y="1851660"/>
            <a:ext cx="109728" cy="1069848"/>
            <a:chOff x="0" y="0"/>
            <a:chExt cx="146304" cy="14264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279A91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66494" y="2155698"/>
            <a:ext cx="70866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34640" y="2130958"/>
            <a:ext cx="14081760" cy="8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9"/>
              </a:lnSpc>
            </a:pPr>
            <a:r>
              <a:rPr lang="en-US" sz="3049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Protect the winners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Prioritize Electronics, CoreTech and high-demand products.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87755" y="3282315"/>
            <a:ext cx="1390650" cy="1088898"/>
            <a:chOff x="0" y="0"/>
            <a:chExt cx="1854200" cy="14518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54200" cy="1451864"/>
            </a:xfrm>
            <a:custGeom>
              <a:avLst/>
              <a:gdLst/>
              <a:ahLst/>
              <a:cxnLst/>
              <a:rect r="r" b="b" t="t" l="l"/>
              <a:pathLst>
                <a:path h="1451864" w="1854200">
                  <a:moveTo>
                    <a:pt x="0" y="241935"/>
                  </a:moveTo>
                  <a:cubicBezTo>
                    <a:pt x="0" y="108331"/>
                    <a:pt x="108331" y="0"/>
                    <a:pt x="241935" y="0"/>
                  </a:cubicBezTo>
                  <a:lnTo>
                    <a:pt x="1612265" y="0"/>
                  </a:lnTo>
                  <a:cubicBezTo>
                    <a:pt x="1745869" y="0"/>
                    <a:pt x="1854200" y="108331"/>
                    <a:pt x="1854200" y="241935"/>
                  </a:cubicBezTo>
                  <a:lnTo>
                    <a:pt x="1854200" y="1209929"/>
                  </a:lnTo>
                  <a:cubicBezTo>
                    <a:pt x="1854200" y="1343533"/>
                    <a:pt x="1745869" y="1451864"/>
                    <a:pt x="1612265" y="1451864"/>
                  </a:cubicBezTo>
                  <a:lnTo>
                    <a:pt x="241935" y="1451864"/>
                  </a:lnTo>
                  <a:cubicBezTo>
                    <a:pt x="108331" y="1451864"/>
                    <a:pt x="0" y="1343533"/>
                    <a:pt x="0" y="120992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3291840"/>
            <a:ext cx="109728" cy="1069848"/>
            <a:chOff x="0" y="0"/>
            <a:chExt cx="146304" cy="14264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315E91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66494" y="3541014"/>
            <a:ext cx="70866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34640" y="3571138"/>
            <a:ext cx="14081760" cy="8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9"/>
              </a:lnSpc>
            </a:pPr>
            <a:r>
              <a:rPr lang="en-US" sz="3049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Grow repeat purchases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Use loyalty offers and targeted follow-ups for one-time customers.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87755" y="4722495"/>
            <a:ext cx="1390650" cy="1088898"/>
            <a:chOff x="0" y="0"/>
            <a:chExt cx="1854200" cy="14518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54200" cy="1451864"/>
            </a:xfrm>
            <a:custGeom>
              <a:avLst/>
              <a:gdLst/>
              <a:ahLst/>
              <a:cxnLst/>
              <a:rect r="r" b="b" t="t" l="l"/>
              <a:pathLst>
                <a:path h="1451864" w="1854200">
                  <a:moveTo>
                    <a:pt x="0" y="241935"/>
                  </a:moveTo>
                  <a:cubicBezTo>
                    <a:pt x="0" y="108331"/>
                    <a:pt x="108331" y="0"/>
                    <a:pt x="241935" y="0"/>
                  </a:cubicBezTo>
                  <a:lnTo>
                    <a:pt x="1612265" y="0"/>
                  </a:lnTo>
                  <a:cubicBezTo>
                    <a:pt x="1745869" y="0"/>
                    <a:pt x="1854200" y="108331"/>
                    <a:pt x="1854200" y="241935"/>
                  </a:cubicBezTo>
                  <a:lnTo>
                    <a:pt x="1854200" y="1209929"/>
                  </a:lnTo>
                  <a:cubicBezTo>
                    <a:pt x="1854200" y="1343533"/>
                    <a:pt x="1745869" y="1451864"/>
                    <a:pt x="1612265" y="1451864"/>
                  </a:cubicBezTo>
                  <a:lnTo>
                    <a:pt x="241935" y="1451864"/>
                  </a:lnTo>
                  <a:cubicBezTo>
                    <a:pt x="108331" y="1451864"/>
                    <a:pt x="0" y="1343533"/>
                    <a:pt x="0" y="120992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97280" y="4732020"/>
            <a:ext cx="109728" cy="1069848"/>
            <a:chOff x="0" y="0"/>
            <a:chExt cx="146304" cy="14264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E6892D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666494" y="5024628"/>
            <a:ext cx="70866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34640" y="5011318"/>
            <a:ext cx="14081760" cy="8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9"/>
              </a:lnSpc>
            </a:pPr>
            <a:r>
              <a:rPr lang="en-US" sz="3049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Focus the strongest market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Keep strong inventory and marketing coverage in the US, especially Texas.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87755" y="6162675"/>
            <a:ext cx="1390650" cy="1088898"/>
            <a:chOff x="0" y="0"/>
            <a:chExt cx="1854200" cy="14518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54200" cy="1451864"/>
            </a:xfrm>
            <a:custGeom>
              <a:avLst/>
              <a:gdLst/>
              <a:ahLst/>
              <a:cxnLst/>
              <a:rect r="r" b="b" t="t" l="l"/>
              <a:pathLst>
                <a:path h="1451864" w="1854200">
                  <a:moveTo>
                    <a:pt x="0" y="241935"/>
                  </a:moveTo>
                  <a:cubicBezTo>
                    <a:pt x="0" y="108331"/>
                    <a:pt x="108331" y="0"/>
                    <a:pt x="241935" y="0"/>
                  </a:cubicBezTo>
                  <a:lnTo>
                    <a:pt x="1612265" y="0"/>
                  </a:lnTo>
                  <a:cubicBezTo>
                    <a:pt x="1745869" y="0"/>
                    <a:pt x="1854200" y="108331"/>
                    <a:pt x="1854200" y="241935"/>
                  </a:cubicBezTo>
                  <a:lnTo>
                    <a:pt x="1854200" y="1209929"/>
                  </a:lnTo>
                  <a:cubicBezTo>
                    <a:pt x="1854200" y="1343533"/>
                    <a:pt x="1745869" y="1451864"/>
                    <a:pt x="1612265" y="1451864"/>
                  </a:cubicBezTo>
                  <a:lnTo>
                    <a:pt x="241935" y="1451864"/>
                  </a:lnTo>
                  <a:cubicBezTo>
                    <a:pt x="108331" y="1451864"/>
                    <a:pt x="0" y="1343533"/>
                    <a:pt x="0" y="120992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97280" y="6172200"/>
            <a:ext cx="109728" cy="1069848"/>
            <a:chOff x="0" y="0"/>
            <a:chExt cx="146304" cy="14264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30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C44C4C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666494" y="6464808"/>
            <a:ext cx="70866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34640" y="6451498"/>
            <a:ext cx="14081760" cy="8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9"/>
              </a:lnSpc>
            </a:pPr>
            <a:r>
              <a:rPr lang="en-US" sz="3049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Improve weak areas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Review Clothing, HomeEase and lower-volume markets for pricing, product mix and promotion.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87755" y="7602855"/>
            <a:ext cx="1390650" cy="1088898"/>
            <a:chOff x="0" y="0"/>
            <a:chExt cx="1854200" cy="145186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54200" cy="1451864"/>
            </a:xfrm>
            <a:custGeom>
              <a:avLst/>
              <a:gdLst/>
              <a:ahLst/>
              <a:cxnLst/>
              <a:rect r="r" b="b" t="t" l="l"/>
              <a:pathLst>
                <a:path h="1451864" w="1854200">
                  <a:moveTo>
                    <a:pt x="0" y="241935"/>
                  </a:moveTo>
                  <a:cubicBezTo>
                    <a:pt x="0" y="108331"/>
                    <a:pt x="108331" y="0"/>
                    <a:pt x="241935" y="0"/>
                  </a:cubicBezTo>
                  <a:lnTo>
                    <a:pt x="1612265" y="0"/>
                  </a:lnTo>
                  <a:cubicBezTo>
                    <a:pt x="1745869" y="0"/>
                    <a:pt x="1854200" y="108331"/>
                    <a:pt x="1854200" y="241935"/>
                  </a:cubicBezTo>
                  <a:lnTo>
                    <a:pt x="1854200" y="1209929"/>
                  </a:lnTo>
                  <a:cubicBezTo>
                    <a:pt x="1854200" y="1343533"/>
                    <a:pt x="1745869" y="1451864"/>
                    <a:pt x="1612265" y="1451864"/>
                  </a:cubicBezTo>
                  <a:lnTo>
                    <a:pt x="241935" y="1451864"/>
                  </a:lnTo>
                  <a:cubicBezTo>
                    <a:pt x="108331" y="1451864"/>
                    <a:pt x="0" y="1343533"/>
                    <a:pt x="0" y="120992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97280" y="7612380"/>
            <a:ext cx="109728" cy="1069848"/>
            <a:chOff x="0" y="0"/>
            <a:chExt cx="146304" cy="14264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30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34915F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490472" y="7904988"/>
            <a:ext cx="708660" cy="635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5F6C7D"/>
                </a:solidFill>
                <a:latin typeface="Aptos Bold"/>
                <a:ea typeface="Aptos Bold"/>
                <a:cs typeface="Aptos Bold"/>
                <a:sym typeface="Aptos Bold"/>
              </a:rPr>
              <a:t>5</a:t>
            </a:r>
          </a:p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834640" y="7891678"/>
            <a:ext cx="14081760" cy="8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9"/>
              </a:lnSpc>
            </a:pPr>
            <a:r>
              <a:rPr lang="en-US" sz="3049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Learn from top sellers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5F6C7D"/>
                </a:solidFill>
                <a:latin typeface="Aptos"/>
                <a:ea typeface="Aptos"/>
                <a:cs typeface="Aptos"/>
                <a:sym typeface="Aptos"/>
              </a:rPr>
              <a:t>Compare top sellers' products and order patterns with lower-performing sellers.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413480" y="9686925"/>
            <a:ext cx="914400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41E3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25880" y="1143000"/>
            <a:ext cx="1559052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2514600"/>
            <a:ext cx="15179040" cy="314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The analysis shows a large and diverse sales base with clear differences across products, brands and markets.</a:t>
            </a:r>
          </a:p>
          <a:p>
            <a:pPr algn="l">
              <a:lnSpc>
                <a:spcPts val="4199"/>
              </a:lnSpc>
            </a:pPr>
            <a:r>
              <a:rPr lang="en-US" sz="3499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Electronics, CoreTech, the US and Texas are the strongest areas.</a:t>
            </a:r>
          </a:p>
          <a:p>
            <a:pPr algn="l">
              <a:lnSpc>
                <a:spcPts val="4199"/>
              </a:lnSpc>
            </a:pPr>
            <a:r>
              <a:rPr lang="en-US" sz="3499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Most customers make only one purchase, making retention the clearest growth opportunity.</a:t>
            </a:r>
          </a:p>
          <a:p>
            <a:pPr algn="l">
              <a:lnSpc>
                <a:spcPts val="4199"/>
              </a:lnSpc>
            </a:pPr>
            <a:r>
              <a:rPr lang="en-US" sz="3499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The results can guide inventory, marketing and customer-retention decisions.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71600" y="7612380"/>
            <a:ext cx="15087600" cy="1028700"/>
            <a:chOff x="0" y="0"/>
            <a:chExt cx="20116800" cy="137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1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9888200" y="0"/>
                  </a:lnTo>
                  <a:cubicBezTo>
                    <a:pt x="20014437" y="0"/>
                    <a:pt x="20116800" y="102362"/>
                    <a:pt x="20116800" y="228600"/>
                  </a:cubicBezTo>
                  <a:lnTo>
                    <a:pt x="20116800" y="1143000"/>
                  </a:lnTo>
                  <a:cubicBezTo>
                    <a:pt x="20116800" y="1269238"/>
                    <a:pt x="20014437" y="1371600"/>
                    <a:pt x="19888200" y="1371600"/>
                  </a:cubicBezTo>
                  <a:lnTo>
                    <a:pt x="228600" y="1371600"/>
                  </a:lnTo>
                  <a:cubicBezTo>
                    <a:pt x="102362" y="1371600"/>
                    <a:pt x="0" y="1269238"/>
                    <a:pt x="0" y="1143000"/>
                  </a:cubicBezTo>
                  <a:close/>
                </a:path>
              </a:pathLst>
            </a:custGeom>
            <a:solidFill>
              <a:srgbClr val="279A91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4768180" y="7855280"/>
            <a:ext cx="8294439" cy="5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9"/>
              </a:lnSpc>
            </a:pPr>
            <a:r>
              <a:rPr lang="en-US" sz="374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From data → insights → business action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13480" y="9686925"/>
            <a:ext cx="914400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373" r="0" b="-2237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 l="-22172" t="0" r="-2217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619027" y="-281538"/>
            <a:ext cx="19058970" cy="10720938"/>
            <a:chOff x="0" y="0"/>
            <a:chExt cx="2438339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41E3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320990" y="0"/>
            <a:ext cx="13646020" cy="10287000"/>
          </a:xfrm>
          <a:custGeom>
            <a:avLst/>
            <a:gdLst/>
            <a:ahLst/>
            <a:cxnLst/>
            <a:rect r="r" b="b" t="t" l="l"/>
            <a:pathLst>
              <a:path h="10287000" w="13646020">
                <a:moveTo>
                  <a:pt x="0" y="0"/>
                </a:moveTo>
                <a:lnTo>
                  <a:pt x="13646020" y="0"/>
                </a:lnTo>
                <a:lnTo>
                  <a:pt x="136460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1602120" y="257175"/>
            <a:ext cx="1257300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true">
                <a:solidFill>
                  <a:srgbClr val="D2DCEB"/>
                </a:solidFill>
                <a:latin typeface="Aptos Bold"/>
                <a:ea typeface="Aptos Bold"/>
                <a:cs typeface="Aptos Bold"/>
                <a:sym typeface="Aptos Bold"/>
              </a:rPr>
              <a:t>Khaled Elsafy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13480" y="9686925"/>
            <a:ext cx="914400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F6C7D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DAHR_3ouT1A</dc:identifier>
  <dcterms:modified xsi:type="dcterms:W3CDTF">2011-08-01T06:04:30Z</dcterms:modified>
  <cp:revision>1</cp:revision>
  <dc:title>Amazon_Sales_Analysis_Presentation.pptx</dc:title>
</cp:coreProperties>
</file>