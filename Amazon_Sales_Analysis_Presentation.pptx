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345145" cy="68580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33305" y="2967335"/>
            <a:ext cx="10911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rPr sz="5400" dirty="0"/>
              <a:t>Amazon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C8D2E1"/>
                </a:solidFill>
                <a:latin typeface="Aptos"/>
              </a:defRPr>
            </a:pPr>
            <a:endParaRPr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5979" y="5661505"/>
            <a:ext cx="5692575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C8D2E1"/>
                </a:solidFill>
                <a:latin typeface="Aptos"/>
              </a:defRPr>
            </a:pPr>
            <a:r>
              <a:rPr lang="en-US" sz="2400" dirty="0" smtClean="0"/>
              <a:t>Name : </a:t>
            </a:r>
            <a:r>
              <a:rPr sz="2400" dirty="0" smtClean="0"/>
              <a:t>Khaled </a:t>
            </a:r>
            <a:r>
              <a:rPr sz="2400" dirty="0"/>
              <a:t>Elsafy</a:t>
            </a:r>
          </a:p>
          <a:p>
            <a:pPr>
              <a:spcAft>
                <a:spcPts val="700"/>
              </a:spcAft>
              <a:defRPr sz="1400">
                <a:solidFill>
                  <a:srgbClr val="C8D2E1"/>
                </a:solidFill>
                <a:latin typeface="Aptos"/>
              </a:defRPr>
            </a:pPr>
            <a:r>
              <a:rPr sz="2400" dirty="0" smtClean="0"/>
              <a:t>Dataset</a:t>
            </a:r>
            <a:r>
              <a:rPr lang="en-US" sz="2400" dirty="0" smtClean="0"/>
              <a:t> </a:t>
            </a:r>
            <a:r>
              <a:rPr sz="2400" dirty="0" smtClean="0"/>
              <a:t>: </a:t>
            </a:r>
            <a:r>
              <a:rPr sz="2400" dirty="0"/>
              <a:t>Amazon Sales Dataset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61609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7D"/>
                </a:solidFill>
                <a:latin typeface="Aptos"/>
              </a:defRPr>
            </a:pPr>
            <a:r>
              <a:rPr sz="1600" dirty="0"/>
              <a:t>Turning 100,000 Amazon orders into actionable business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Orders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100,000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73152" cy="114300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58191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Original Columns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73152" cy="1143000"/>
          </a:xfrm>
          <a:prstGeom prst="rect">
            <a:avLst/>
          </a:prstGeom>
          <a:solidFill>
            <a:srgbClr val="E6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7" y="158191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Years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2020–2024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173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32520" y="1417320"/>
            <a:ext cx="73152" cy="1143000"/>
          </a:xfrm>
          <a:prstGeom prst="rect">
            <a:avLst/>
          </a:prstGeom>
          <a:solidFill>
            <a:srgbClr val="34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581912"/>
            <a:ext cx="2148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Sellers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1,999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51860"/>
            <a:ext cx="104241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Understand sales performance and order patterns.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Analyze customer behavior and repeat purchases.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Identify strong and weak products, categories, brands and markets.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Translate findings into practical business recommendations.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581912"/>
            <a:ext cx="20425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rPr sz="1600" dirty="0"/>
              <a:t>Business </a:t>
            </a:r>
            <a:r>
              <a:rPr sz="1600" dirty="0" smtClean="0"/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0584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Which products and categories perform best?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Where are the strongest markets?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How do customers behave and how often do they repeat?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Which brands and sellers stand out?</a:t>
            </a:r>
          </a:p>
          <a:p>
            <a:pPr>
              <a:spcAft>
                <a:spcPts val="10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sz="2400" dirty="0"/>
              <a:t>• What patterns can support better business decisions?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63534"/>
            <a:ext cx="91951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rPr sz="1600" dirty="0" smtClean="0"/>
              <a:t>What </a:t>
            </a:r>
            <a:r>
              <a:rPr sz="1600" dirty="0"/>
              <a:t>drives order volume and sales performance across customers, products and markets?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54589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rPr dirty="0"/>
              <a:t>Sales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rPr sz="1600" dirty="0"/>
              <a:t>Measure </a:t>
            </a:r>
            <a:r>
              <a:rPr sz="1600" dirty="0" smtClean="0"/>
              <a:t>sales</a:t>
            </a:r>
            <a:endParaRPr lang="en-US" sz="1600" dirty="0" smtClean="0"/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rPr sz="1600" dirty="0" smtClean="0"/>
              <a:t>and </a:t>
            </a:r>
            <a:r>
              <a:rPr sz="1600" dirty="0"/>
              <a:t>order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581912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Customers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Understand purchase frequency and repeat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1417320"/>
            <a:ext cx="73152" cy="1508760"/>
          </a:xfrm>
          <a:prstGeom prst="rect">
            <a:avLst/>
          </a:prstGeom>
          <a:solidFill>
            <a:srgbClr val="E6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581912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Products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Identify best- and worst-performing products.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474720"/>
            <a:ext cx="73152" cy="1508760"/>
          </a:xfrm>
          <a:prstGeom prst="rect">
            <a:avLst/>
          </a:prstGeom>
          <a:solidFill>
            <a:srgbClr val="34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Markets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Compare countries and states.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73152" cy="1508760"/>
          </a:xfrm>
          <a:prstGeom prst="rect">
            <a:avLst/>
          </a:prstGeom>
          <a:solidFill>
            <a:srgbClr val="C4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3639312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Business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Turn analysis into clear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7D"/>
                </a:solidFill>
                <a:latin typeface="Aptos"/>
              </a:defRPr>
            </a:pPr>
            <a:r>
              <a:t>Amazon Sales Dataset used for the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14300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2240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Rows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100,000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73152" cy="114300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536192"/>
            <a:ext cx="2240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Original Columns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73152" cy="1143000"/>
          </a:xfrm>
          <a:prstGeom prst="rect">
            <a:avLst/>
          </a:prstGeom>
          <a:solidFill>
            <a:srgbClr val="E6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36192"/>
            <a:ext cx="2240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Final Columns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37160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1371600"/>
            <a:ext cx="73152" cy="1143000"/>
          </a:xfrm>
          <a:prstGeom prst="rect">
            <a:avLst/>
          </a:prstGeom>
          <a:solidFill>
            <a:srgbClr val="34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8" y="1536192"/>
            <a:ext cx="2240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Order Value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Avg. 918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Median: 714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Key fields: OrderID, CustomerID, ProductName, Category, Brand, Quantity, TotalAmount, Country, State and SellerID.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Numeric fields include Quantity, UnitPrice, Discount, Tax, ShippingCost and TotalAmount.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OrderDate was converted to datetime and Year was extracted.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7D"/>
                </a:solidFill>
                <a:latin typeface="Aptos"/>
              </a:defRPr>
            </a:pPr>
            <a:r>
              <a:t>Major data-quality checks and transformations.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60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34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240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Missing Values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0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No null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560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40" y="1417320"/>
            <a:ext cx="73152" cy="1325880"/>
          </a:xfrm>
          <a:prstGeom prst="rect">
            <a:avLst/>
          </a:prstGeom>
          <a:solidFill>
            <a:srgbClr val="34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1581912"/>
            <a:ext cx="2240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Duplicate Rows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0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No duplicates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560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73152" cy="132588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581912"/>
            <a:ext cx="2240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OrderDate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Converted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Object → datetime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98280" y="1417320"/>
            <a:ext cx="73152" cy="1325880"/>
          </a:xfrm>
          <a:prstGeom prst="rect">
            <a:avLst/>
          </a:prstGeom>
          <a:solidFill>
            <a:srgbClr val="E6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9448" y="1581912"/>
            <a:ext cx="2057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CustomerKey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Created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ID +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CustomerID was not fully reliable as a unique customer identifier because the same ID appeared with different customer names.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A CustomerKey combining CustomerID and CustomerName was created for customer-level analysis.</a:t>
            </a:r>
          </a:p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• No rows were removed for missing values or duplicates.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Analytical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Which products are ordered the most and the least?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Which category and brand generate the strongest performance?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Which countries and states have the most orders?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How many customers repeat their purchases?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How are orders distributed across years?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How do seller order volumes compare?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Is order value related to quantity or shipping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Finding 1 — Product &amp; Category Performance</a:t>
            </a:r>
          </a:p>
        </p:txBody>
      </p:sp>
      <p:pic>
        <p:nvPicPr>
          <p:cNvPr id="4" name="Picture 3" descr="cell11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4160520"/>
          </a:xfrm>
          <a:prstGeom prst="rect">
            <a:avLst/>
          </a:prstGeom>
        </p:spPr>
      </p:pic>
      <p:pic>
        <p:nvPicPr>
          <p:cNvPr id="5" name="Picture 4" descr="cell1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623560"/>
            <a:ext cx="10972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75157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b="1"/>
              <a:t>Insight: LED Desk Lamp is the most ordered product (6,344 units). Electronics leads by order volume (16,853).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Finding 2 — Brand &amp; Seller Performance</a:t>
            </a:r>
          </a:p>
        </p:txBody>
      </p:sp>
      <p:pic>
        <p:nvPicPr>
          <p:cNvPr id="4" name="Picture 3" descr="cell11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486400" cy="4251960"/>
          </a:xfrm>
          <a:prstGeom prst="rect">
            <a:avLst/>
          </a:prstGeom>
        </p:spPr>
      </p:pic>
      <p:pic>
        <p:nvPicPr>
          <p:cNvPr id="5" name="Picture 4" descr="cell1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623560"/>
            <a:ext cx="10972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75157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b="1"/>
              <a:t>Insight: CoreTech has the highest brand sales (~8.57M). Top sellers handle about 78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Finding 3 — Customer Behavior</a:t>
            </a:r>
          </a:p>
        </p:txBody>
      </p:sp>
      <p:pic>
        <p:nvPicPr>
          <p:cNvPr id="4" name="Picture 3" descr="cell12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4251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417320"/>
            <a:ext cx="3886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60920" y="1417320"/>
            <a:ext cx="73152" cy="1143000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62088" y="1581912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CustomerKey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99,500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Used for customer-level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43200"/>
            <a:ext cx="3886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2743200"/>
            <a:ext cx="73152" cy="1143000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2907792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1 Order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99,003 customers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Most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4069080"/>
            <a:ext cx="3886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4069080"/>
            <a:ext cx="73152" cy="1143000"/>
          </a:xfrm>
          <a:prstGeom prst="rect">
            <a:avLst/>
          </a:prstGeom>
          <a:solidFill>
            <a:srgbClr val="E6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4233672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2 Orders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494 customers</a:t>
            </a:r>
          </a:p>
          <a:p>
            <a:pPr>
              <a:defRPr sz="900">
                <a:solidFill>
                  <a:srgbClr val="5F6C7D"/>
                </a:solidFill>
                <a:latin typeface="Aptos"/>
              </a:defRPr>
            </a:pPr>
            <a:r>
              <a:t>Repeat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623560"/>
            <a:ext cx="10972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75157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b="1"/>
              <a:t>Insight: Most customers made only 1 order, so retention is a clear growth opportunity.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Finding 4 — Geographic &amp; Time Trends</a:t>
            </a:r>
          </a:p>
        </p:txBody>
      </p:sp>
      <p:pic>
        <p:nvPicPr>
          <p:cNvPr id="4" name="Picture 3" descr="cell12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4389120"/>
          </a:xfrm>
          <a:prstGeom prst="rect">
            <a:avLst/>
          </a:prstGeom>
        </p:spPr>
      </p:pic>
      <p:pic>
        <p:nvPicPr>
          <p:cNvPr id="5" name="Picture 4" descr="cell1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562356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623560"/>
            <a:ext cx="10972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75157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b="1"/>
              <a:t>Insight: The US leads with 70,058 orders; Texas leads states with 24,896. 2023 has the highest yearly order volume (20,096).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Finding 5 — Order Value &amp; Shipping</a:t>
            </a:r>
          </a:p>
        </p:txBody>
      </p:sp>
      <p:pic>
        <p:nvPicPr>
          <p:cNvPr id="4" name="Picture 3" descr="cell1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94960" cy="4297680"/>
          </a:xfrm>
          <a:prstGeom prst="rect">
            <a:avLst/>
          </a:prstGeom>
        </p:spPr>
      </p:pic>
      <p:pic>
        <p:nvPicPr>
          <p:cNvPr id="5" name="Picture 4" descr="cell1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4068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623560"/>
            <a:ext cx="109728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75157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b="1"/>
              <a:t>Insight: Average order value is ~918 versus a median of ~714; order values are strongly concentrated at the lower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7D"/>
                </a:solidFill>
                <a:latin typeface="Aptos"/>
              </a:defRPr>
            </a:pPr>
            <a:r>
              <a:t>Best and weakest performers from the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94960" cy="4526280"/>
          </a:xfrm>
          <a:prstGeom prst="roundRect">
            <a:avLst/>
          </a:prstGeom>
          <a:solidFill>
            <a:srgbClr val="ECF8F2"/>
          </a:solidFill>
          <a:ln>
            <a:solidFill>
              <a:srgbClr val="B9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1E30"/>
                </a:solidFill>
                <a:latin typeface="Aptos"/>
              </a:defRPr>
            </a:pPr>
            <a:r>
              <a:t>BEST PERFORMERS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Best Product: LED Desk Lamp — 6,344 units.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Best Category: Electronics — 16,853 orders.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Best Brand: CoreTech — ~8.57M sales.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Best Market: United States — 70,058 orders.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Best State: Texas — 24,896 orders.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Highest Year: 2023 — 20,096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94960" cy="4526280"/>
          </a:xfrm>
          <a:prstGeom prst="roundRect">
            <a:avLst/>
          </a:prstGeom>
          <a:solidFill>
            <a:srgbClr val="FCF1F1"/>
          </a:solidFill>
          <a:ln>
            <a:solidFill>
              <a:srgbClr val="E6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1E30"/>
                </a:solidFill>
                <a:latin typeface="Aptos"/>
              </a:defRPr>
            </a:pPr>
            <a:r>
              <a:t>AREAS TO IMPROVE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Lowest Product: Children's Book — 5,619 units.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Lowest Category: Clothing — 16,439 orders.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Lowest Brand: HomeEase — ~8.30M sales.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Lowest Market: Australia — 4,130 orders.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Lowest State: Arizona — 4,941 orders.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Customer behavior: 99,003 customers made only 1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E30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7D"/>
                </a:solidFill>
                <a:latin typeface="Aptos"/>
              </a:defRPr>
            </a:pPr>
            <a:r>
              <a:t>What an owner or seller can do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713232"/>
          </a:xfrm>
          <a:prstGeom prst="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1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16152"/>
            <a:ext cx="9509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E30"/>
                </a:solidFill>
                <a:latin typeface="Aptos"/>
              </a:defRPr>
            </a:pPr>
            <a:r>
              <a:t>Protect the winners</a:t>
            </a:r>
          </a:p>
          <a:p>
            <a:pPr>
              <a:defRPr sz="1200">
                <a:solidFill>
                  <a:srgbClr val="5F6C7D"/>
                </a:solidFill>
                <a:latin typeface="Aptos"/>
              </a:defRPr>
            </a:pPr>
            <a:r>
              <a:t>Prioritize Electronics, CoreTech and high-demand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73152" cy="713232"/>
          </a:xfrm>
          <a:prstGeom prst="rect">
            <a:avLst/>
          </a:prstGeom>
          <a:solidFill>
            <a:srgbClr val="31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5915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2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76272"/>
            <a:ext cx="9509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E30"/>
                </a:solidFill>
                <a:latin typeface="Aptos"/>
              </a:defRPr>
            </a:pPr>
            <a:r>
              <a:t>Grow repeat purchases</a:t>
            </a:r>
          </a:p>
          <a:p>
            <a:pPr>
              <a:defRPr sz="1200">
                <a:solidFill>
                  <a:srgbClr val="5F6C7D"/>
                </a:solidFill>
                <a:latin typeface="Aptos"/>
              </a:defRPr>
            </a:pPr>
            <a:r>
              <a:t>Use loyalty offers and targeted follow-ups for one-time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73152" cy="713232"/>
          </a:xfrm>
          <a:prstGeom prst="rect">
            <a:avLst/>
          </a:prstGeom>
          <a:solidFill>
            <a:srgbClr val="E6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1927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3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36392"/>
            <a:ext cx="9509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E30"/>
                </a:solidFill>
                <a:latin typeface="Aptos"/>
              </a:defRPr>
            </a:pPr>
            <a:r>
              <a:t>Focus the strongest market</a:t>
            </a:r>
          </a:p>
          <a:p>
            <a:pPr>
              <a:defRPr sz="1200">
                <a:solidFill>
                  <a:srgbClr val="5F6C7D"/>
                </a:solidFill>
                <a:latin typeface="Aptos"/>
              </a:defRPr>
            </a:pPr>
            <a:r>
              <a:t>Keep strong inventory and marketing coverage in the US, especially Texas.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73152" cy="713232"/>
          </a:xfrm>
          <a:prstGeom prst="rect">
            <a:avLst/>
          </a:prstGeom>
          <a:solidFill>
            <a:srgbClr val="C4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4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96512"/>
            <a:ext cx="9509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E30"/>
                </a:solidFill>
                <a:latin typeface="Aptos"/>
              </a:defRPr>
            </a:pPr>
            <a:r>
              <a:t>Improve weak areas</a:t>
            </a:r>
          </a:p>
          <a:p>
            <a:pPr>
              <a:defRPr sz="1200">
                <a:solidFill>
                  <a:srgbClr val="5F6C7D"/>
                </a:solidFill>
                <a:latin typeface="Aptos"/>
              </a:defRPr>
            </a:pPr>
            <a:r>
              <a:t>Review Clothing, HomeEase and lower-volume markets for pricing, product mix and promotion.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914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73152" cy="713232"/>
          </a:xfrm>
          <a:prstGeom prst="rect">
            <a:avLst/>
          </a:prstGeom>
          <a:solidFill>
            <a:srgbClr val="34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2395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C7D"/>
                </a:solidFill>
                <a:latin typeface="Aptos"/>
              </a:defRPr>
            </a:pPr>
            <a:r>
              <a:t>5</a:t>
            </a:r>
          </a:p>
          <a:p>
            <a:pPr>
              <a:defRPr sz="2500" b="1">
                <a:solidFill>
                  <a:srgbClr val="141E30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056632"/>
            <a:ext cx="9509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E30"/>
                </a:solidFill>
                <a:latin typeface="Aptos"/>
              </a:defRPr>
            </a:pPr>
            <a:r>
              <a:t>Learn from top sellers</a:t>
            </a:r>
          </a:p>
          <a:p>
            <a:pPr>
              <a:defRPr sz="1200">
                <a:solidFill>
                  <a:srgbClr val="5F6C7D"/>
                </a:solidFill>
                <a:latin typeface="Aptos"/>
              </a:defRPr>
            </a:pPr>
            <a:r>
              <a:t>Compare top sellers' products and order patterns with lower-performing sellers.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analysis shows a large and diverse sales base with clear differences across products, brands and markets.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Electronics, CoreTech, the US and Texas are the strongest areas.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Most customers make only one purchase, making retention the clearest growth opportunity.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results can guide inventory, marketing and customer-retention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74920"/>
            <a:ext cx="10058400" cy="685800"/>
          </a:xfrm>
          <a:prstGeom prst="roundRect">
            <a:avLst/>
          </a:prstGeom>
          <a:solidFill>
            <a:srgbClr val="27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523951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From data → insights → business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718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2DCEB"/>
                </a:solidFill>
                <a:latin typeface="Aptos"/>
              </a:defRPr>
            </a:pPr>
            <a:r>
              <a:t>Khaled Elsafy</a:t>
            </a:r>
          </a:p>
          <a:p>
            <a:pPr algn="ctr">
              <a:defRPr sz="1500">
                <a:solidFill>
                  <a:srgbClr val="B4C3D7"/>
                </a:solidFill>
                <a:latin typeface="Aptos"/>
              </a:defRPr>
            </a:pPr>
            <a:r>
              <a:t>Amazon Sales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862</Words>
  <Application>Microsoft Office PowerPoint</Application>
  <PresentationFormat>Widescreen</PresentationFormat>
  <Paragraphs>158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Khaled Elsafy</cp:lastModifiedBy>
  <cp:revision>2</cp:revision>
  <dcterms:created xsi:type="dcterms:W3CDTF">2013-01-27T09:14:16Z</dcterms:created>
  <dcterms:modified xsi:type="dcterms:W3CDTF">2026-08-11T15:16:35Z</dcterms:modified>
  <cp:category/>
</cp:coreProperties>
</file>